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88" r:id="rId2"/>
    <p:sldId id="256" r:id="rId3"/>
    <p:sldId id="257" r:id="rId4"/>
    <p:sldId id="258" r:id="rId5"/>
    <p:sldId id="259" r:id="rId6"/>
    <p:sldId id="260" r:id="rId7"/>
    <p:sldId id="261" r:id="rId8"/>
    <p:sldId id="262" r:id="rId9"/>
    <p:sldId id="263" r:id="rId10"/>
    <p:sldId id="264" r:id="rId11"/>
    <p:sldId id="265" r:id="rId12"/>
    <p:sldId id="266" r:id="rId13"/>
    <p:sldId id="267" r:id="rId14"/>
    <p:sldId id="270" r:id="rId15"/>
    <p:sldId id="271" r:id="rId16"/>
    <p:sldId id="273" r:id="rId17"/>
    <p:sldId id="275" r:id="rId18"/>
    <p:sldId id="290" r:id="rId19"/>
    <p:sldId id="277" r:id="rId20"/>
    <p:sldId id="278" r:id="rId21"/>
    <p:sldId id="280" r:id="rId22"/>
    <p:sldId id="283" r:id="rId23"/>
    <p:sldId id="284" r:id="rId24"/>
    <p:sldId id="287" r:id="rId25"/>
    <p:sldId id="289" r:id="rId26"/>
  </p:sldIdLst>
  <p:sldSz cx="14630400" cy="8229600"/>
  <p:notesSz cx="8229600" cy="14630400"/>
  <p:embeddedFontLst>
    <p:embeddedFont>
      <p:font typeface="Consolas" panose="020B0609020204030204" pitchFamily="49" charset="0"/>
      <p:regular r:id="rId28"/>
      <p:bold r:id="rId29"/>
      <p:italic r:id="rId30"/>
      <p:boldItalic r:id="rId31"/>
    </p:embeddedFont>
    <p:embeddedFont>
      <p:font typeface="DM Sans Medium" pitchFamily="2" charset="0"/>
      <p:regular r:id="rId32"/>
    </p:embeddedFont>
    <p:embeddedFont>
      <p:font typeface="Inter"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8" d="100"/>
          <a:sy n="68" d="100"/>
        </p:scale>
        <p:origin x="715" y="86"/>
      </p:cViewPr>
      <p:guideLst/>
    </p:cSldViewPr>
  </p:slideViewPr>
  <p:notesTextViewPr>
    <p:cViewPr>
      <p:scale>
        <a:sx n="1" d="1"/>
        <a:sy n="1" d="1"/>
      </p:scale>
      <p:origin x="0" y="0"/>
    </p:cViewPr>
  </p:notesTextViewPr>
  <p:sorterViewPr>
    <p:cViewPr>
      <p:scale>
        <a:sx n="100" d="100"/>
        <a:sy n="100" d="100"/>
      </p:scale>
      <p:origin x="0" y="-14141"/>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43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3" name="Picture 12" descr="A person in a garment&#10;&#10;AI-generated content may be incorrect.">
            <a:extLst>
              <a:ext uri="{FF2B5EF4-FFF2-40B4-BE49-F238E27FC236}">
                <a16:creationId xmlns:a16="http://schemas.microsoft.com/office/drawing/2014/main" id="{6C959C9D-9FE3-7CCD-90C6-B5B89631077D}"/>
              </a:ext>
            </a:extLst>
          </p:cNvPr>
          <p:cNvPicPr>
            <a:picLocks noChangeAspect="1"/>
          </p:cNvPicPr>
          <p:nvPr/>
        </p:nvPicPr>
        <p:blipFill>
          <a:blip r:embed="rId2">
            <a:alphaModFix amt="10000"/>
          </a:blip>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07F957CC-65A1-5781-01DA-0CE6F1BA743A}"/>
              </a:ext>
            </a:extLst>
          </p:cNvPr>
          <p:cNvSpPr txBox="1"/>
          <p:nvPr/>
        </p:nvSpPr>
        <p:spPr>
          <a:xfrm>
            <a:off x="2248589" y="999521"/>
            <a:ext cx="10133222" cy="2785378"/>
          </a:xfrm>
          <a:prstGeom prst="rect">
            <a:avLst/>
          </a:prstGeom>
          <a:noFill/>
        </p:spPr>
        <p:txBody>
          <a:bodyPr wrap="none" rtlCol="0">
            <a:spAutoFit/>
          </a:bodyPr>
          <a:lstStyle/>
          <a:p>
            <a:pPr algn="ctr"/>
            <a:r>
              <a:rPr lang="en-US" sz="12500" b="1" u="sng" dirty="0">
                <a:solidFill>
                  <a:srgbClr val="002060"/>
                </a:solidFill>
              </a:rPr>
              <a:t>Final Project</a:t>
            </a:r>
            <a:r>
              <a:rPr lang="ar-EG" sz="12500" b="1" u="sng" dirty="0">
                <a:solidFill>
                  <a:srgbClr val="002060"/>
                </a:solidFill>
              </a:rPr>
              <a:t>:</a:t>
            </a:r>
          </a:p>
          <a:p>
            <a:pPr algn="ctr"/>
            <a:r>
              <a:rPr lang="ar-EG" sz="5000" dirty="0">
                <a:solidFill>
                  <a:srgbClr val="002060"/>
                </a:solidFill>
              </a:rPr>
              <a:t>"</a:t>
            </a:r>
            <a:r>
              <a:rPr lang="en-US" sz="5000" dirty="0">
                <a:solidFill>
                  <a:srgbClr val="002060"/>
                </a:solidFill>
              </a:rPr>
              <a:t>Not every DHCP server is your friend</a:t>
            </a:r>
            <a:r>
              <a:rPr lang="ar-EG" sz="5000" dirty="0">
                <a:solidFill>
                  <a:srgbClr val="002060"/>
                </a:solidFill>
              </a:rPr>
              <a:t>"</a:t>
            </a:r>
            <a:endParaRPr lang="en-US" sz="5000" dirty="0">
              <a:solidFill>
                <a:srgbClr val="002060"/>
              </a:solidFill>
            </a:endParaRPr>
          </a:p>
        </p:txBody>
      </p:sp>
      <p:sp>
        <p:nvSpPr>
          <p:cNvPr id="6" name="TextBox 5">
            <a:extLst>
              <a:ext uri="{FF2B5EF4-FFF2-40B4-BE49-F238E27FC236}">
                <a16:creationId xmlns:a16="http://schemas.microsoft.com/office/drawing/2014/main" id="{3EABE500-AC84-9EF7-6FE5-257DE95382E0}"/>
              </a:ext>
            </a:extLst>
          </p:cNvPr>
          <p:cNvSpPr txBox="1"/>
          <p:nvPr/>
        </p:nvSpPr>
        <p:spPr>
          <a:xfrm>
            <a:off x="4573103" y="5214143"/>
            <a:ext cx="5484194" cy="2015936"/>
          </a:xfrm>
          <a:prstGeom prst="rect">
            <a:avLst/>
          </a:prstGeom>
          <a:noFill/>
        </p:spPr>
        <p:txBody>
          <a:bodyPr wrap="none" rtlCol="0">
            <a:spAutoFit/>
          </a:bodyPr>
          <a:lstStyle/>
          <a:p>
            <a:pPr algn="ctr"/>
            <a:r>
              <a:rPr lang="en-US" sz="5000" u="sng" dirty="0">
                <a:solidFill>
                  <a:srgbClr val="002060"/>
                </a:solidFill>
              </a:rPr>
              <a:t>Made By:</a:t>
            </a:r>
          </a:p>
          <a:p>
            <a:pPr algn="ctr"/>
            <a:r>
              <a:rPr lang="en-US" sz="7500" b="1" dirty="0">
                <a:solidFill>
                  <a:srgbClr val="002060"/>
                </a:solidFill>
              </a:rPr>
              <a:t>Ammar Yaser</a:t>
            </a:r>
          </a:p>
        </p:txBody>
      </p:sp>
    </p:spTree>
    <p:extLst>
      <p:ext uri="{BB962C8B-B14F-4D97-AF65-F5344CB8AC3E}">
        <p14:creationId xmlns:p14="http://schemas.microsoft.com/office/powerpoint/2010/main" val="999623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74294"/>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DHCP Spoofing, DHCP Snooping, and Port Security: Protecting Your Network</a:t>
            </a:r>
            <a:endParaRPr lang="en-US" sz="4450" dirty="0"/>
          </a:p>
        </p:txBody>
      </p:sp>
      <p:sp>
        <p:nvSpPr>
          <p:cNvPr id="4" name="Text 1"/>
          <p:cNvSpPr/>
          <p:nvPr/>
        </p:nvSpPr>
        <p:spPr>
          <a:xfrm>
            <a:off x="6280190" y="444079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Securing your network infrastructure from common but potent threats like DHCP spoofing is paramount in today's interconnected world. This presentation will explore the vulnerabilities of DHCP and how strategic implementations of DHCP Snooping and Port Security can fortify your defenses.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93790" y="1670209"/>
            <a:ext cx="10434042"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What is DHCP and Why Does It Matter?</a:t>
            </a:r>
            <a:endParaRPr lang="en-US" sz="4450" dirty="0"/>
          </a:p>
        </p:txBody>
      </p:sp>
      <p:sp>
        <p:nvSpPr>
          <p:cNvPr id="3" name="Shape 1"/>
          <p:cNvSpPr/>
          <p:nvPr/>
        </p:nvSpPr>
        <p:spPr>
          <a:xfrm>
            <a:off x="793790" y="2832616"/>
            <a:ext cx="510302" cy="510302"/>
          </a:xfrm>
          <a:prstGeom prst="roundRect">
            <a:avLst>
              <a:gd name="adj" fmla="val 6667"/>
            </a:avLst>
          </a:prstGeom>
          <a:solidFill>
            <a:srgbClr val="EDEBE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78860" y="2875121"/>
            <a:ext cx="340162" cy="425291"/>
          </a:xfrm>
          <a:prstGeom prst="rect">
            <a:avLst/>
          </a:prstGeom>
        </p:spPr>
      </p:pic>
      <p:sp>
        <p:nvSpPr>
          <p:cNvPr id="5" name="Text 2"/>
          <p:cNvSpPr/>
          <p:nvPr/>
        </p:nvSpPr>
        <p:spPr>
          <a:xfrm>
            <a:off x="1530906" y="2910483"/>
            <a:ext cx="3399353"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Automated Configuration</a:t>
            </a:r>
            <a:endParaRPr lang="en-US" sz="2200" dirty="0"/>
          </a:p>
        </p:txBody>
      </p:sp>
      <p:sp>
        <p:nvSpPr>
          <p:cNvPr id="6" name="Text 3"/>
          <p:cNvSpPr/>
          <p:nvPr/>
        </p:nvSpPr>
        <p:spPr>
          <a:xfrm>
            <a:off x="1530906" y="3400901"/>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DHCP (Dynamic Host Configuration Protocol) automatically assigns IP addresses and other network settings to devices, simplifying network management.</a:t>
            </a:r>
            <a:endParaRPr lang="en-US" sz="1750" dirty="0"/>
          </a:p>
        </p:txBody>
      </p:sp>
      <p:sp>
        <p:nvSpPr>
          <p:cNvPr id="7" name="Shape 4"/>
          <p:cNvSpPr/>
          <p:nvPr/>
        </p:nvSpPr>
        <p:spPr>
          <a:xfrm>
            <a:off x="5235893" y="2832616"/>
            <a:ext cx="510302" cy="510302"/>
          </a:xfrm>
          <a:prstGeom prst="roundRect">
            <a:avLst>
              <a:gd name="adj" fmla="val 6667"/>
            </a:avLst>
          </a:prstGeom>
          <a:solidFill>
            <a:srgbClr val="EDEBE3"/>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5320963" y="2875121"/>
            <a:ext cx="340162" cy="425291"/>
          </a:xfrm>
          <a:prstGeom prst="rect">
            <a:avLst/>
          </a:prstGeom>
        </p:spPr>
      </p:pic>
      <p:sp>
        <p:nvSpPr>
          <p:cNvPr id="9" name="Text 5"/>
          <p:cNvSpPr/>
          <p:nvPr/>
        </p:nvSpPr>
        <p:spPr>
          <a:xfrm>
            <a:off x="5973008" y="291048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Scalability</a:t>
            </a:r>
            <a:endParaRPr lang="en-US" sz="2200" dirty="0"/>
          </a:p>
        </p:txBody>
      </p:sp>
      <p:sp>
        <p:nvSpPr>
          <p:cNvPr id="10" name="Text 6"/>
          <p:cNvSpPr/>
          <p:nvPr/>
        </p:nvSpPr>
        <p:spPr>
          <a:xfrm>
            <a:off x="5973008" y="3400901"/>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It makes network configuration effortless, especially in large and dynamic environments with many devices.</a:t>
            </a:r>
            <a:endParaRPr lang="en-US" sz="1750" dirty="0"/>
          </a:p>
        </p:txBody>
      </p:sp>
      <p:sp>
        <p:nvSpPr>
          <p:cNvPr id="11" name="Shape 7"/>
          <p:cNvSpPr/>
          <p:nvPr/>
        </p:nvSpPr>
        <p:spPr>
          <a:xfrm>
            <a:off x="9677995" y="2832616"/>
            <a:ext cx="510302" cy="510302"/>
          </a:xfrm>
          <a:prstGeom prst="roundRect">
            <a:avLst>
              <a:gd name="adj" fmla="val 6667"/>
            </a:avLst>
          </a:prstGeom>
          <a:solidFill>
            <a:srgbClr val="EDEBE3"/>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9763065" y="2875121"/>
            <a:ext cx="340162" cy="425291"/>
          </a:xfrm>
          <a:prstGeom prst="rect">
            <a:avLst/>
          </a:prstGeom>
        </p:spPr>
      </p:pic>
      <p:sp>
        <p:nvSpPr>
          <p:cNvPr id="13" name="Text 8"/>
          <p:cNvSpPr/>
          <p:nvPr/>
        </p:nvSpPr>
        <p:spPr>
          <a:xfrm>
            <a:off x="10415111" y="291048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Vulnerability</a:t>
            </a:r>
            <a:endParaRPr lang="en-US" sz="2200" dirty="0"/>
          </a:p>
        </p:txBody>
      </p:sp>
      <p:sp>
        <p:nvSpPr>
          <p:cNvPr id="14" name="Text 9"/>
          <p:cNvSpPr/>
          <p:nvPr/>
        </p:nvSpPr>
        <p:spPr>
          <a:xfrm>
            <a:off x="10415111" y="3400901"/>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Despite its utility, DHCP lacks built-in authentication, making it susceptible to malicious exploitation.</a:t>
            </a:r>
            <a:endParaRPr lang="en-US" sz="1750" dirty="0"/>
          </a:p>
        </p:txBody>
      </p:sp>
      <p:sp>
        <p:nvSpPr>
          <p:cNvPr id="15" name="Text 10"/>
          <p:cNvSpPr/>
          <p:nvPr/>
        </p:nvSpPr>
        <p:spPr>
          <a:xfrm>
            <a:off x="793790" y="583346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DHCP is a fundamental protocol for modern networks, but its lack of inherent security mechanisms creates significant vulnerabilities that must be addressed.</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592217" y="465296"/>
            <a:ext cx="7181969" cy="528757"/>
          </a:xfrm>
          <a:prstGeom prst="rect">
            <a:avLst/>
          </a:prstGeom>
          <a:noFill/>
          <a:ln/>
        </p:spPr>
        <p:txBody>
          <a:bodyPr wrap="none" lIns="0" tIns="0" rIns="0" bIns="0" rtlCol="0" anchor="t"/>
          <a:lstStyle/>
          <a:p>
            <a:pPr marL="0" indent="0" algn="l">
              <a:lnSpc>
                <a:spcPts val="4150"/>
              </a:lnSpc>
              <a:buNone/>
            </a:pPr>
            <a:r>
              <a:rPr lang="en-US" sz="3300" dirty="0">
                <a:solidFill>
                  <a:srgbClr val="161613"/>
                </a:solidFill>
                <a:latin typeface="DM Sans Medium" pitchFamily="34" charset="0"/>
                <a:ea typeface="DM Sans Medium" pitchFamily="34" charset="-122"/>
                <a:cs typeface="DM Sans Medium" pitchFamily="34" charset="-120"/>
              </a:rPr>
              <a:t>The Threat: What is DHCP Spoofing?</a:t>
            </a:r>
            <a:endParaRPr lang="en-US" sz="3300" dirty="0"/>
          </a:p>
        </p:txBody>
      </p:sp>
      <p:sp>
        <p:nvSpPr>
          <p:cNvPr id="3" name="Text 1"/>
          <p:cNvSpPr/>
          <p:nvPr/>
        </p:nvSpPr>
        <p:spPr>
          <a:xfrm>
            <a:off x="592217" y="1400056"/>
            <a:ext cx="6516648" cy="811887"/>
          </a:xfrm>
          <a:prstGeom prst="rect">
            <a:avLst/>
          </a:prstGeom>
          <a:noFill/>
          <a:ln/>
        </p:spPr>
        <p:txBody>
          <a:bodyPr wrap="squar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DHCP spoofing is a severe cyberattack where a rogue DHCP server impersonates the legitimate one, distributing fraudulent network configurations to client devices.</a:t>
            </a:r>
            <a:endParaRPr lang="en-US" sz="1300" dirty="0"/>
          </a:p>
        </p:txBody>
      </p:sp>
      <p:sp>
        <p:nvSpPr>
          <p:cNvPr id="4" name="Text 2"/>
          <p:cNvSpPr/>
          <p:nvPr/>
        </p:nvSpPr>
        <p:spPr>
          <a:xfrm>
            <a:off x="592217" y="2364224"/>
            <a:ext cx="6516648" cy="270629"/>
          </a:xfrm>
          <a:prstGeom prst="rect">
            <a:avLst/>
          </a:prstGeom>
          <a:noFill/>
          <a:ln/>
        </p:spPr>
        <p:txBody>
          <a:bodyPr wrap="none" lIns="0" tIns="0" rIns="0" bIns="0" rtlCol="0" anchor="t"/>
          <a:lstStyle/>
          <a:p>
            <a:pPr marL="0" indent="0" algn="l">
              <a:lnSpc>
                <a:spcPts val="2100"/>
              </a:lnSpc>
              <a:buNone/>
            </a:pPr>
            <a:r>
              <a:rPr lang="en-US" sz="1300" dirty="0">
                <a:solidFill>
                  <a:srgbClr val="28282F"/>
                </a:solidFill>
                <a:latin typeface="Inter" pitchFamily="34" charset="0"/>
                <a:ea typeface="Inter" pitchFamily="34" charset="-122"/>
                <a:cs typeface="Inter" pitchFamily="34" charset="-120"/>
              </a:rPr>
              <a:t>Consequences of a successful DHCP spoofing attack are dire:</a:t>
            </a:r>
            <a:endParaRPr lang="en-US" sz="1300" dirty="0"/>
          </a:p>
        </p:txBody>
      </p:sp>
      <p:sp>
        <p:nvSpPr>
          <p:cNvPr id="5" name="Text 3"/>
          <p:cNvSpPr/>
          <p:nvPr/>
        </p:nvSpPr>
        <p:spPr>
          <a:xfrm>
            <a:off x="592217" y="2787134"/>
            <a:ext cx="6516648" cy="270629"/>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161613"/>
                </a:solidFill>
                <a:latin typeface="Inter" pitchFamily="34" charset="0"/>
                <a:ea typeface="Inter" pitchFamily="34" charset="-122"/>
                <a:cs typeface="Inter" pitchFamily="34" charset="-120"/>
              </a:rPr>
              <a:t>Data interception</a:t>
            </a:r>
            <a:endParaRPr lang="en-US" sz="1300" dirty="0"/>
          </a:p>
        </p:txBody>
      </p:sp>
      <p:sp>
        <p:nvSpPr>
          <p:cNvPr id="6" name="Text 4"/>
          <p:cNvSpPr/>
          <p:nvPr/>
        </p:nvSpPr>
        <p:spPr>
          <a:xfrm>
            <a:off x="592217" y="3116937"/>
            <a:ext cx="6516648" cy="270629"/>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161613"/>
                </a:solidFill>
                <a:latin typeface="Inter" pitchFamily="34" charset="0"/>
                <a:ea typeface="Inter" pitchFamily="34" charset="-122"/>
                <a:cs typeface="Inter" pitchFamily="34" charset="-120"/>
              </a:rPr>
              <a:t>Network disruption</a:t>
            </a:r>
            <a:endParaRPr lang="en-US" sz="1300" dirty="0"/>
          </a:p>
        </p:txBody>
      </p:sp>
      <p:sp>
        <p:nvSpPr>
          <p:cNvPr id="7" name="Text 5"/>
          <p:cNvSpPr/>
          <p:nvPr/>
        </p:nvSpPr>
        <p:spPr>
          <a:xfrm>
            <a:off x="592217" y="3446740"/>
            <a:ext cx="6516648" cy="270629"/>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161613"/>
                </a:solidFill>
                <a:latin typeface="Inter" pitchFamily="34" charset="0"/>
                <a:ea typeface="Inter" pitchFamily="34" charset="-122"/>
                <a:cs typeface="Inter" pitchFamily="34" charset="-120"/>
              </a:rPr>
              <a:t>Credential theft</a:t>
            </a:r>
            <a:endParaRPr lang="en-US" sz="1300" dirty="0"/>
          </a:p>
        </p:txBody>
      </p:sp>
      <p:sp>
        <p:nvSpPr>
          <p:cNvPr id="8" name="Text 6"/>
          <p:cNvSpPr/>
          <p:nvPr/>
        </p:nvSpPr>
        <p:spPr>
          <a:xfrm>
            <a:off x="592217" y="3776543"/>
            <a:ext cx="6516648" cy="270629"/>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161613"/>
                </a:solidFill>
                <a:latin typeface="Inter" pitchFamily="34" charset="0"/>
                <a:ea typeface="Inter" pitchFamily="34" charset="-122"/>
                <a:cs typeface="Inter" pitchFamily="34" charset="-120"/>
              </a:rPr>
              <a:t>Man-in-the-middle attacks</a:t>
            </a:r>
            <a:endParaRPr lang="en-US" sz="1300" dirty="0"/>
          </a:p>
        </p:txBody>
      </p:sp>
      <p:pic>
        <p:nvPicPr>
          <p:cNvPr id="9" name="Image 0" descr="preencoded.png"/>
          <p:cNvPicPr>
            <a:picLocks noChangeAspect="1"/>
          </p:cNvPicPr>
          <p:nvPr/>
        </p:nvPicPr>
        <p:blipFill>
          <a:blip r:embed="rId3"/>
          <a:stretch>
            <a:fillRect/>
          </a:stretch>
        </p:blipFill>
        <p:spPr>
          <a:xfrm>
            <a:off x="7529155" y="1438037"/>
            <a:ext cx="6516648" cy="6516648"/>
          </a:xfrm>
          <a:prstGeom prst="rect">
            <a:avLst/>
          </a:prstGeom>
        </p:spPr>
      </p:pic>
      <p:sp>
        <p:nvSpPr>
          <p:cNvPr id="10" name="Text 7"/>
          <p:cNvSpPr/>
          <p:nvPr/>
        </p:nvSpPr>
        <p:spPr>
          <a:xfrm>
            <a:off x="592217" y="8335208"/>
            <a:ext cx="13445966" cy="270629"/>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Attackers can redirect traffic through their own machines, gaining unauthorized access to sensitive information and control over network communications.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651153"/>
            <a:ext cx="11678603"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How DHCP Spoofing Works: The Attack Flow</a:t>
            </a:r>
            <a:endParaRPr lang="en-US" sz="4450" dirty="0"/>
          </a:p>
        </p:txBody>
      </p:sp>
      <p:sp>
        <p:nvSpPr>
          <p:cNvPr id="3" name="Text 1"/>
          <p:cNvSpPr/>
          <p:nvPr/>
        </p:nvSpPr>
        <p:spPr>
          <a:xfrm>
            <a:off x="793790" y="18135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DM Sans Light" pitchFamily="34" charset="0"/>
                <a:ea typeface="DM Sans Light" pitchFamily="34" charset="-122"/>
                <a:cs typeface="DM Sans Light" pitchFamily="34" charset="-120"/>
              </a:rPr>
              <a:t>01</a:t>
            </a:r>
            <a:endParaRPr lang="en-US" sz="1750" dirty="0"/>
          </a:p>
        </p:txBody>
      </p:sp>
      <p:sp>
        <p:nvSpPr>
          <p:cNvPr id="4" name="Shape 2"/>
          <p:cNvSpPr/>
          <p:nvPr/>
        </p:nvSpPr>
        <p:spPr>
          <a:xfrm>
            <a:off x="793790" y="2168604"/>
            <a:ext cx="6407944" cy="30480"/>
          </a:xfrm>
          <a:prstGeom prst="rect">
            <a:avLst/>
          </a:prstGeom>
          <a:solidFill>
            <a:srgbClr val="28282F"/>
          </a:solidFill>
          <a:ln/>
        </p:spPr>
        <p:txBody>
          <a:bodyPr/>
          <a:lstStyle/>
          <a:p>
            <a:endParaRPr lang="en-US"/>
          </a:p>
        </p:txBody>
      </p:sp>
      <p:sp>
        <p:nvSpPr>
          <p:cNvPr id="5" name="Text 3"/>
          <p:cNvSpPr/>
          <p:nvPr/>
        </p:nvSpPr>
        <p:spPr>
          <a:xfrm>
            <a:off x="793790" y="234291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DHCP Starvation</a:t>
            </a:r>
            <a:endParaRPr lang="en-US" sz="2200" dirty="0"/>
          </a:p>
        </p:txBody>
      </p:sp>
      <p:sp>
        <p:nvSpPr>
          <p:cNvPr id="6" name="Text 4"/>
          <p:cNvSpPr/>
          <p:nvPr/>
        </p:nvSpPr>
        <p:spPr>
          <a:xfrm>
            <a:off x="793790" y="2833330"/>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The attacker floods the network with fake DHCPDISCOVER requests, exhausting the legitimate DHCP server's IP address pool.</a:t>
            </a:r>
            <a:endParaRPr lang="en-US" sz="1750" dirty="0"/>
          </a:p>
        </p:txBody>
      </p:sp>
      <p:sp>
        <p:nvSpPr>
          <p:cNvPr id="7" name="Text 5"/>
          <p:cNvSpPr/>
          <p:nvPr/>
        </p:nvSpPr>
        <p:spPr>
          <a:xfrm>
            <a:off x="7428548" y="18135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DM Sans Light" pitchFamily="34" charset="0"/>
                <a:ea typeface="DM Sans Light" pitchFamily="34" charset="-122"/>
                <a:cs typeface="DM Sans Light" pitchFamily="34" charset="-120"/>
              </a:rPr>
              <a:t>02</a:t>
            </a:r>
            <a:endParaRPr lang="en-US" sz="1750" dirty="0"/>
          </a:p>
        </p:txBody>
      </p:sp>
      <p:sp>
        <p:nvSpPr>
          <p:cNvPr id="8" name="Shape 6"/>
          <p:cNvSpPr/>
          <p:nvPr/>
        </p:nvSpPr>
        <p:spPr>
          <a:xfrm>
            <a:off x="7428548" y="2168604"/>
            <a:ext cx="6408063" cy="30480"/>
          </a:xfrm>
          <a:prstGeom prst="rect">
            <a:avLst/>
          </a:prstGeom>
          <a:solidFill>
            <a:srgbClr val="28282F"/>
          </a:solidFill>
          <a:ln/>
        </p:spPr>
        <p:txBody>
          <a:bodyPr/>
          <a:lstStyle/>
          <a:p>
            <a:endParaRPr lang="en-US"/>
          </a:p>
        </p:txBody>
      </p:sp>
      <p:sp>
        <p:nvSpPr>
          <p:cNvPr id="9" name="Text 7"/>
          <p:cNvSpPr/>
          <p:nvPr/>
        </p:nvSpPr>
        <p:spPr>
          <a:xfrm>
            <a:off x="7428548" y="2342912"/>
            <a:ext cx="3237786"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Legitimate Server Denial</a:t>
            </a:r>
            <a:endParaRPr lang="en-US" sz="2200" dirty="0"/>
          </a:p>
        </p:txBody>
      </p:sp>
      <p:sp>
        <p:nvSpPr>
          <p:cNvPr id="10" name="Text 8"/>
          <p:cNvSpPr/>
          <p:nvPr/>
        </p:nvSpPr>
        <p:spPr>
          <a:xfrm>
            <a:off x="7428548" y="2833330"/>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The real DHCP server runs out of available addresses, preventing new, legitimate clients from obtaining network configurations.</a:t>
            </a:r>
            <a:endParaRPr lang="en-US" sz="1750" dirty="0"/>
          </a:p>
        </p:txBody>
      </p:sp>
      <p:sp>
        <p:nvSpPr>
          <p:cNvPr id="11" name="Text 9"/>
          <p:cNvSpPr/>
          <p:nvPr/>
        </p:nvSpPr>
        <p:spPr>
          <a:xfrm>
            <a:off x="793790" y="43188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DM Sans Light" pitchFamily="34" charset="0"/>
                <a:ea typeface="DM Sans Light" pitchFamily="34" charset="-122"/>
                <a:cs typeface="DM Sans Light" pitchFamily="34" charset="-120"/>
              </a:rPr>
              <a:t>03</a:t>
            </a:r>
            <a:endParaRPr lang="en-US" sz="1750" dirty="0"/>
          </a:p>
        </p:txBody>
      </p:sp>
      <p:sp>
        <p:nvSpPr>
          <p:cNvPr id="12" name="Shape 10"/>
          <p:cNvSpPr/>
          <p:nvPr/>
        </p:nvSpPr>
        <p:spPr>
          <a:xfrm>
            <a:off x="793790" y="4673918"/>
            <a:ext cx="6407944" cy="30480"/>
          </a:xfrm>
          <a:prstGeom prst="rect">
            <a:avLst/>
          </a:prstGeom>
          <a:solidFill>
            <a:srgbClr val="28282F"/>
          </a:solidFill>
          <a:ln/>
        </p:spPr>
        <p:txBody>
          <a:bodyPr/>
          <a:lstStyle/>
          <a:p>
            <a:endParaRPr lang="en-US"/>
          </a:p>
        </p:txBody>
      </p:sp>
      <p:sp>
        <p:nvSpPr>
          <p:cNvPr id="13" name="Text 11"/>
          <p:cNvSpPr/>
          <p:nvPr/>
        </p:nvSpPr>
        <p:spPr>
          <a:xfrm>
            <a:off x="793790" y="4848225"/>
            <a:ext cx="3117056"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Rogue Server Response</a:t>
            </a:r>
            <a:endParaRPr lang="en-US" sz="2200" dirty="0"/>
          </a:p>
        </p:txBody>
      </p:sp>
      <p:sp>
        <p:nvSpPr>
          <p:cNvPr id="14" name="Text 12"/>
          <p:cNvSpPr/>
          <p:nvPr/>
        </p:nvSpPr>
        <p:spPr>
          <a:xfrm>
            <a:off x="793790" y="5338643"/>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The attacker's rogue DHCP server then responds to subsequent client requests with malicious DHCPOFFER packets.</a:t>
            </a:r>
            <a:endParaRPr lang="en-US" sz="1750" dirty="0"/>
          </a:p>
        </p:txBody>
      </p:sp>
      <p:sp>
        <p:nvSpPr>
          <p:cNvPr id="15" name="Text 13"/>
          <p:cNvSpPr/>
          <p:nvPr/>
        </p:nvSpPr>
        <p:spPr>
          <a:xfrm>
            <a:off x="7428548" y="43188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DM Sans Light" pitchFamily="34" charset="0"/>
                <a:ea typeface="DM Sans Light" pitchFamily="34" charset="-122"/>
                <a:cs typeface="DM Sans Light" pitchFamily="34" charset="-120"/>
              </a:rPr>
              <a:t>04</a:t>
            </a:r>
            <a:endParaRPr lang="en-US" sz="1750" dirty="0"/>
          </a:p>
        </p:txBody>
      </p:sp>
      <p:sp>
        <p:nvSpPr>
          <p:cNvPr id="16" name="Shape 14"/>
          <p:cNvSpPr/>
          <p:nvPr/>
        </p:nvSpPr>
        <p:spPr>
          <a:xfrm>
            <a:off x="7428548" y="4673918"/>
            <a:ext cx="6408063" cy="30480"/>
          </a:xfrm>
          <a:prstGeom prst="rect">
            <a:avLst/>
          </a:prstGeom>
          <a:solidFill>
            <a:srgbClr val="28282F"/>
          </a:solidFill>
          <a:ln/>
        </p:spPr>
        <p:txBody>
          <a:bodyPr/>
          <a:lstStyle/>
          <a:p>
            <a:endParaRPr lang="en-US"/>
          </a:p>
        </p:txBody>
      </p:sp>
      <p:sp>
        <p:nvSpPr>
          <p:cNvPr id="17" name="Text 15"/>
          <p:cNvSpPr/>
          <p:nvPr/>
        </p:nvSpPr>
        <p:spPr>
          <a:xfrm>
            <a:off x="7428548" y="48482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Client Compromise</a:t>
            </a:r>
            <a:endParaRPr lang="en-US" sz="2200" dirty="0"/>
          </a:p>
        </p:txBody>
      </p:sp>
      <p:sp>
        <p:nvSpPr>
          <p:cNvPr id="18" name="Text 16"/>
          <p:cNvSpPr/>
          <p:nvPr/>
        </p:nvSpPr>
        <p:spPr>
          <a:xfrm>
            <a:off x="7428548" y="5338643"/>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Clients unknowingly accept these harmful settings, leading to compromised network access and potential data exposure.</a:t>
            </a:r>
            <a:endParaRPr lang="en-US" sz="1750" dirty="0"/>
          </a:p>
        </p:txBody>
      </p:sp>
      <p:sp>
        <p:nvSpPr>
          <p:cNvPr id="19" name="Text 17"/>
          <p:cNvSpPr/>
          <p:nvPr/>
        </p:nvSpPr>
        <p:spPr>
          <a:xfrm>
            <a:off x="793790" y="685252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This multi-stage attack highlights the need for robust network defenses to prevent IP address exhaustion and unauthorized DHCP responses.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21638" y="566976"/>
            <a:ext cx="10018752" cy="644366"/>
          </a:xfrm>
          <a:prstGeom prst="rect">
            <a:avLst/>
          </a:prstGeom>
          <a:noFill/>
          <a:ln/>
        </p:spPr>
        <p:txBody>
          <a:bodyPr wrap="none" lIns="0" tIns="0" rIns="0" bIns="0" rtlCol="0" anchor="t"/>
          <a:lstStyle/>
          <a:p>
            <a:pPr marL="0" indent="0" algn="l">
              <a:lnSpc>
                <a:spcPts val="5050"/>
              </a:lnSpc>
              <a:buNone/>
            </a:pPr>
            <a:r>
              <a:rPr lang="en-US" sz="4050" dirty="0">
                <a:solidFill>
                  <a:srgbClr val="161613"/>
                </a:solidFill>
                <a:latin typeface="DM Sans Medium" pitchFamily="34" charset="0"/>
                <a:ea typeface="DM Sans Medium" pitchFamily="34" charset="-122"/>
                <a:cs typeface="DM Sans Medium" pitchFamily="34" charset="-120"/>
              </a:rPr>
              <a:t>DHCP Snooping: The First Line of Defense</a:t>
            </a:r>
            <a:endParaRPr lang="en-US" sz="4050" dirty="0"/>
          </a:p>
        </p:txBody>
      </p:sp>
      <p:sp>
        <p:nvSpPr>
          <p:cNvPr id="3" name="Text 1"/>
          <p:cNvSpPr/>
          <p:nvPr/>
        </p:nvSpPr>
        <p:spPr>
          <a:xfrm>
            <a:off x="721638" y="1706047"/>
            <a:ext cx="6342102" cy="659844"/>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DHCP Snooping is a crucial switch security feature that monitors DHCP traffic to prevent rogue DHCP servers.</a:t>
            </a:r>
            <a:endParaRPr lang="en-US" sz="1600" dirty="0"/>
          </a:p>
        </p:txBody>
      </p:sp>
      <p:sp>
        <p:nvSpPr>
          <p:cNvPr id="4" name="Text 2"/>
          <p:cNvSpPr/>
          <p:nvPr/>
        </p:nvSpPr>
        <p:spPr>
          <a:xfrm>
            <a:off x="721638" y="2551390"/>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161613"/>
                </a:solidFill>
                <a:latin typeface="Inter" pitchFamily="34" charset="0"/>
                <a:ea typeface="Inter" pitchFamily="34" charset="-122"/>
                <a:cs typeface="Inter" pitchFamily="34" charset="-120"/>
              </a:rPr>
              <a:t>It maintains a binding table of trusted IP-MAC address pairs.</a:t>
            </a:r>
            <a:endParaRPr lang="en-US" sz="1600" dirty="0"/>
          </a:p>
        </p:txBody>
      </p:sp>
      <p:sp>
        <p:nvSpPr>
          <p:cNvPr id="5" name="Text 3"/>
          <p:cNvSpPr/>
          <p:nvPr/>
        </p:nvSpPr>
        <p:spPr>
          <a:xfrm>
            <a:off x="721638" y="2953464"/>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161613"/>
                </a:solidFill>
                <a:latin typeface="Inter" pitchFamily="34" charset="0"/>
                <a:ea typeface="Inter" pitchFamily="34" charset="-122"/>
                <a:cs typeface="Inter" pitchFamily="34" charset="-120"/>
              </a:rPr>
              <a:t>Ports are classified as </a:t>
            </a:r>
            <a:r>
              <a:rPr lang="en-US" sz="1600" dirty="0">
                <a:solidFill>
                  <a:srgbClr val="28282F"/>
                </a:solidFill>
                <a:latin typeface="Inter" pitchFamily="34" charset="0"/>
                <a:ea typeface="Inter" pitchFamily="34" charset="-122"/>
                <a:cs typeface="Inter" pitchFamily="34" charset="-120"/>
              </a:rPr>
              <a:t>Trusted</a:t>
            </a:r>
            <a:r>
              <a:rPr lang="en-US" sz="1600" dirty="0">
                <a:solidFill>
                  <a:srgbClr val="161613"/>
                </a:solidFill>
                <a:latin typeface="Inter" pitchFamily="34" charset="0"/>
                <a:ea typeface="Inter" pitchFamily="34" charset="-122"/>
                <a:cs typeface="Inter" pitchFamily="34" charset="-120"/>
              </a:rPr>
              <a:t> (e.g., connected to legitimate DHCP servers) or </a:t>
            </a:r>
            <a:r>
              <a:rPr lang="en-US" sz="1600" dirty="0">
                <a:solidFill>
                  <a:srgbClr val="28282F"/>
                </a:solidFill>
                <a:latin typeface="Inter" pitchFamily="34" charset="0"/>
                <a:ea typeface="Inter" pitchFamily="34" charset="-122"/>
                <a:cs typeface="Inter" pitchFamily="34" charset="-120"/>
              </a:rPr>
              <a:t>Untrusted</a:t>
            </a:r>
            <a:r>
              <a:rPr lang="en-US" sz="1600" dirty="0">
                <a:solidFill>
                  <a:srgbClr val="161613"/>
                </a:solidFill>
                <a:latin typeface="Inter" pitchFamily="34" charset="0"/>
                <a:ea typeface="Inter" pitchFamily="34" charset="-122"/>
                <a:cs typeface="Inter" pitchFamily="34" charset="-120"/>
              </a:rPr>
              <a:t> (client-facing ports).</a:t>
            </a:r>
            <a:endParaRPr lang="en-US" sz="1600" dirty="0"/>
          </a:p>
        </p:txBody>
      </p:sp>
      <p:sp>
        <p:nvSpPr>
          <p:cNvPr id="6" name="Text 4"/>
          <p:cNvSpPr/>
          <p:nvPr/>
        </p:nvSpPr>
        <p:spPr>
          <a:xfrm>
            <a:off x="721638" y="3685461"/>
            <a:ext cx="6342102" cy="989767"/>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161613"/>
                </a:solidFill>
                <a:latin typeface="Inter" pitchFamily="34" charset="0"/>
                <a:ea typeface="Inter" pitchFamily="34" charset="-122"/>
                <a:cs typeface="Inter" pitchFamily="34" charset="-120"/>
              </a:rPr>
              <a:t>DHCP responses originating from untrusted ports are blocked unless they validate against the binding table, effectively preventing rogue servers.</a:t>
            </a:r>
            <a:endParaRPr lang="en-US" sz="1600" dirty="0"/>
          </a:p>
        </p:txBody>
      </p:sp>
      <p:sp>
        <p:nvSpPr>
          <p:cNvPr id="7" name="Text 5"/>
          <p:cNvSpPr/>
          <p:nvPr/>
        </p:nvSpPr>
        <p:spPr>
          <a:xfrm>
            <a:off x="721638" y="4860727"/>
            <a:ext cx="6342102" cy="997387"/>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Commands like </a:t>
            </a:r>
            <a:r>
              <a:rPr lang="en-US" sz="1600" dirty="0">
                <a:solidFill>
                  <a:srgbClr val="161613"/>
                </a:solidFill>
                <a:highlight>
                  <a:srgbClr val="ECEBE8"/>
                </a:highlight>
                <a:latin typeface="Consolas" pitchFamily="34" charset="0"/>
                <a:ea typeface="Consolas" pitchFamily="34" charset="-122"/>
                <a:cs typeface="Consolas" pitchFamily="34" charset="-120"/>
              </a:rPr>
              <a:t>show dhcp-security binding</a:t>
            </a:r>
            <a:r>
              <a:rPr lang="en-US" sz="1600" dirty="0">
                <a:solidFill>
                  <a:srgbClr val="161613"/>
                </a:solidFill>
                <a:latin typeface="Inter" pitchFamily="34" charset="0"/>
                <a:ea typeface="Inter" pitchFamily="34" charset="-122"/>
                <a:cs typeface="Inter" pitchFamily="34" charset="-120"/>
              </a:rPr>
              <a:t> are essential for validating the snooping database and identifying potential anomalies.</a:t>
            </a:r>
            <a:endParaRPr lang="en-US" sz="1600" dirty="0"/>
          </a:p>
        </p:txBody>
      </p:sp>
      <p:pic>
        <p:nvPicPr>
          <p:cNvPr id="8" name="Image 0" descr="preencoded.png"/>
          <p:cNvPicPr>
            <a:picLocks noChangeAspect="1"/>
          </p:cNvPicPr>
          <p:nvPr/>
        </p:nvPicPr>
        <p:blipFill>
          <a:blip r:embed="rId3"/>
          <a:stretch>
            <a:fillRect/>
          </a:stretch>
        </p:blipFill>
        <p:spPr>
          <a:xfrm>
            <a:off x="7574280" y="1752481"/>
            <a:ext cx="6342102" cy="63421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793790" y="772597"/>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Beyond Snooping: ARP Inspection and IP Source Guard</a:t>
            </a:r>
            <a:endParaRPr lang="en-US" sz="4450" dirty="0"/>
          </a:p>
        </p:txBody>
      </p:sp>
      <p:sp>
        <p:nvSpPr>
          <p:cNvPr id="3" name="Shape 1"/>
          <p:cNvSpPr/>
          <p:nvPr/>
        </p:nvSpPr>
        <p:spPr>
          <a:xfrm>
            <a:off x="793790" y="2983944"/>
            <a:ext cx="4196358" cy="3492103"/>
          </a:xfrm>
          <a:prstGeom prst="roundRect">
            <a:avLst>
              <a:gd name="adj" fmla="val 4190"/>
            </a:avLst>
          </a:prstGeom>
          <a:solidFill>
            <a:srgbClr val="F9F8F5"/>
          </a:solidFill>
          <a:ln/>
        </p:spPr>
        <p:txBody>
          <a:bodyPr/>
          <a:lstStyle/>
          <a:p>
            <a:endParaRPr lang="en-US"/>
          </a:p>
        </p:txBody>
      </p:sp>
      <p:sp>
        <p:nvSpPr>
          <p:cNvPr id="4" name="Shape 2"/>
          <p:cNvSpPr/>
          <p:nvPr/>
        </p:nvSpPr>
        <p:spPr>
          <a:xfrm>
            <a:off x="793790" y="2953464"/>
            <a:ext cx="4196358" cy="121920"/>
          </a:xfrm>
          <a:prstGeom prst="roundRect">
            <a:avLst>
              <a:gd name="adj" fmla="val 27907"/>
            </a:avLst>
          </a:prstGeom>
          <a:solidFill>
            <a:srgbClr val="28282F"/>
          </a:solidFill>
          <a:ln/>
        </p:spPr>
        <p:txBody>
          <a:bodyPr/>
          <a:lstStyle/>
          <a:p>
            <a:endParaRPr lang="en-US"/>
          </a:p>
        </p:txBody>
      </p:sp>
      <p:sp>
        <p:nvSpPr>
          <p:cNvPr id="5" name="Shape 3"/>
          <p:cNvSpPr/>
          <p:nvPr/>
        </p:nvSpPr>
        <p:spPr>
          <a:xfrm>
            <a:off x="2551688" y="2643783"/>
            <a:ext cx="680442" cy="680442"/>
          </a:xfrm>
          <a:prstGeom prst="roundRect">
            <a:avLst>
              <a:gd name="adj" fmla="val 134383"/>
            </a:avLst>
          </a:prstGeom>
          <a:solidFill>
            <a:srgbClr val="28282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755761" y="2813923"/>
            <a:ext cx="272177" cy="340162"/>
          </a:xfrm>
          <a:prstGeom prst="rect">
            <a:avLst/>
          </a:prstGeom>
        </p:spPr>
      </p:pic>
      <p:sp>
        <p:nvSpPr>
          <p:cNvPr id="7" name="Text 4"/>
          <p:cNvSpPr/>
          <p:nvPr/>
        </p:nvSpPr>
        <p:spPr>
          <a:xfrm>
            <a:off x="1051084" y="3550920"/>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Dynamic ARP Inspection (DAI)</a:t>
            </a:r>
            <a:endParaRPr lang="en-US" sz="2200" dirty="0"/>
          </a:p>
        </p:txBody>
      </p:sp>
      <p:sp>
        <p:nvSpPr>
          <p:cNvPr id="8" name="Text 5"/>
          <p:cNvSpPr/>
          <p:nvPr/>
        </p:nvSpPr>
        <p:spPr>
          <a:xfrm>
            <a:off x="1051084" y="4395668"/>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DAI validates ARP packets against the DHCP snooping binding table, blocking spoofed ARP replies and protecting against man-in-the-middle attacks.</a:t>
            </a:r>
            <a:endParaRPr lang="en-US" sz="1750" dirty="0"/>
          </a:p>
        </p:txBody>
      </p:sp>
      <p:sp>
        <p:nvSpPr>
          <p:cNvPr id="9" name="Shape 6"/>
          <p:cNvSpPr/>
          <p:nvPr/>
        </p:nvSpPr>
        <p:spPr>
          <a:xfrm>
            <a:off x="5216962" y="2983944"/>
            <a:ext cx="4196358" cy="3492103"/>
          </a:xfrm>
          <a:prstGeom prst="roundRect">
            <a:avLst>
              <a:gd name="adj" fmla="val 4190"/>
            </a:avLst>
          </a:prstGeom>
          <a:solidFill>
            <a:srgbClr val="F9F8F5"/>
          </a:solidFill>
          <a:ln/>
        </p:spPr>
        <p:txBody>
          <a:bodyPr/>
          <a:lstStyle/>
          <a:p>
            <a:endParaRPr lang="en-US"/>
          </a:p>
        </p:txBody>
      </p:sp>
      <p:sp>
        <p:nvSpPr>
          <p:cNvPr id="10" name="Shape 7"/>
          <p:cNvSpPr/>
          <p:nvPr/>
        </p:nvSpPr>
        <p:spPr>
          <a:xfrm>
            <a:off x="5216962" y="2953464"/>
            <a:ext cx="4196358" cy="121920"/>
          </a:xfrm>
          <a:prstGeom prst="roundRect">
            <a:avLst>
              <a:gd name="adj" fmla="val 27907"/>
            </a:avLst>
          </a:prstGeom>
          <a:solidFill>
            <a:srgbClr val="28282F"/>
          </a:solidFill>
          <a:ln/>
        </p:spPr>
        <p:txBody>
          <a:bodyPr/>
          <a:lstStyle/>
          <a:p>
            <a:endParaRPr lang="en-US"/>
          </a:p>
        </p:txBody>
      </p:sp>
      <p:sp>
        <p:nvSpPr>
          <p:cNvPr id="11" name="Shape 8"/>
          <p:cNvSpPr/>
          <p:nvPr/>
        </p:nvSpPr>
        <p:spPr>
          <a:xfrm>
            <a:off x="6974860" y="2643783"/>
            <a:ext cx="680442" cy="680442"/>
          </a:xfrm>
          <a:prstGeom prst="roundRect">
            <a:avLst>
              <a:gd name="adj" fmla="val 134383"/>
            </a:avLst>
          </a:prstGeom>
          <a:solidFill>
            <a:srgbClr val="28282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178933" y="2813923"/>
            <a:ext cx="272177" cy="340162"/>
          </a:xfrm>
          <a:prstGeom prst="rect">
            <a:avLst/>
          </a:prstGeom>
        </p:spPr>
      </p:pic>
      <p:sp>
        <p:nvSpPr>
          <p:cNvPr id="13" name="Text 9"/>
          <p:cNvSpPr/>
          <p:nvPr/>
        </p:nvSpPr>
        <p:spPr>
          <a:xfrm>
            <a:off x="5474256" y="35509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IP Source Guard</a:t>
            </a:r>
            <a:endParaRPr lang="en-US" sz="2200" dirty="0"/>
          </a:p>
        </p:txBody>
      </p:sp>
      <p:sp>
        <p:nvSpPr>
          <p:cNvPr id="14" name="Text 10"/>
          <p:cNvSpPr/>
          <p:nvPr/>
        </p:nvSpPr>
        <p:spPr>
          <a:xfrm>
            <a:off x="5474256" y="4041338"/>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This feature inspects IP packets on untrusted ports, permitting only traffic with source IP and MAC addresses that match the DHCP bindings.</a:t>
            </a:r>
            <a:endParaRPr lang="en-US" sz="1750" dirty="0"/>
          </a:p>
        </p:txBody>
      </p:sp>
      <p:sp>
        <p:nvSpPr>
          <p:cNvPr id="15" name="Shape 11"/>
          <p:cNvSpPr/>
          <p:nvPr/>
        </p:nvSpPr>
        <p:spPr>
          <a:xfrm>
            <a:off x="9640133" y="2983944"/>
            <a:ext cx="4196358" cy="3492103"/>
          </a:xfrm>
          <a:prstGeom prst="roundRect">
            <a:avLst>
              <a:gd name="adj" fmla="val 4190"/>
            </a:avLst>
          </a:prstGeom>
          <a:solidFill>
            <a:srgbClr val="F9F8F5"/>
          </a:solidFill>
          <a:ln/>
        </p:spPr>
        <p:txBody>
          <a:bodyPr/>
          <a:lstStyle/>
          <a:p>
            <a:endParaRPr lang="en-US"/>
          </a:p>
        </p:txBody>
      </p:sp>
      <p:sp>
        <p:nvSpPr>
          <p:cNvPr id="16" name="Shape 12"/>
          <p:cNvSpPr/>
          <p:nvPr/>
        </p:nvSpPr>
        <p:spPr>
          <a:xfrm>
            <a:off x="9640133" y="2953464"/>
            <a:ext cx="4196358" cy="121920"/>
          </a:xfrm>
          <a:prstGeom prst="roundRect">
            <a:avLst>
              <a:gd name="adj" fmla="val 27907"/>
            </a:avLst>
          </a:prstGeom>
          <a:solidFill>
            <a:srgbClr val="28282F"/>
          </a:solidFill>
          <a:ln/>
        </p:spPr>
        <p:txBody>
          <a:bodyPr/>
          <a:lstStyle/>
          <a:p>
            <a:endParaRPr lang="en-US"/>
          </a:p>
        </p:txBody>
      </p:sp>
      <p:sp>
        <p:nvSpPr>
          <p:cNvPr id="17" name="Shape 13"/>
          <p:cNvSpPr/>
          <p:nvPr/>
        </p:nvSpPr>
        <p:spPr>
          <a:xfrm>
            <a:off x="11398032" y="2643783"/>
            <a:ext cx="680442" cy="680442"/>
          </a:xfrm>
          <a:prstGeom prst="roundRect">
            <a:avLst>
              <a:gd name="adj" fmla="val 134383"/>
            </a:avLst>
          </a:prstGeom>
          <a:solidFill>
            <a:srgbClr val="28282F"/>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1602105" y="2813923"/>
            <a:ext cx="272177" cy="340162"/>
          </a:xfrm>
          <a:prstGeom prst="rect">
            <a:avLst/>
          </a:prstGeom>
        </p:spPr>
      </p:pic>
      <p:sp>
        <p:nvSpPr>
          <p:cNvPr id="19" name="Text 14"/>
          <p:cNvSpPr/>
          <p:nvPr/>
        </p:nvSpPr>
        <p:spPr>
          <a:xfrm>
            <a:off x="9897427" y="3550920"/>
            <a:ext cx="3148012"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Dependency &amp; Caveats</a:t>
            </a:r>
            <a:endParaRPr lang="en-US" sz="2200" dirty="0"/>
          </a:p>
        </p:txBody>
      </p:sp>
      <p:sp>
        <p:nvSpPr>
          <p:cNvPr id="20" name="Text 15"/>
          <p:cNvSpPr/>
          <p:nvPr/>
        </p:nvSpPr>
        <p:spPr>
          <a:xfrm>
            <a:off x="9897427" y="4041338"/>
            <a:ext cx="3681770"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Both DAI and IP Source Guard heavily rely on the accuracy of DHCP snooping data. Static IPs on untrusted ports might experience connectivity issues without proper configuration.</a:t>
            </a:r>
            <a:endParaRPr lang="en-US" sz="1750" dirty="0"/>
          </a:p>
        </p:txBody>
      </p:sp>
      <p:sp>
        <p:nvSpPr>
          <p:cNvPr id="21" name="Text 16"/>
          <p:cNvSpPr/>
          <p:nvPr/>
        </p:nvSpPr>
        <p:spPr>
          <a:xfrm>
            <a:off x="793790" y="673119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These advanced features layer on top of DHCP snooping, creating a comprehensive defense against various network layer attacks.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1526381"/>
            <a:ext cx="12250103"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Port Security Considerations &amp; Best Practices</a:t>
            </a:r>
            <a:endParaRPr lang="en-US" sz="4450" dirty="0"/>
          </a:p>
        </p:txBody>
      </p:sp>
      <p:sp>
        <p:nvSpPr>
          <p:cNvPr id="3" name="Text 1"/>
          <p:cNvSpPr/>
          <p:nvPr/>
        </p:nvSpPr>
        <p:spPr>
          <a:xfrm>
            <a:off x="793790" y="268878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Effective implementation of DHCP snooping and port security requires careful planning and configuration:</a:t>
            </a:r>
            <a:endParaRPr lang="en-US" sz="1750" dirty="0"/>
          </a:p>
        </p:txBody>
      </p:sp>
      <p:sp>
        <p:nvSpPr>
          <p:cNvPr id="4" name="Text 2"/>
          <p:cNvSpPr/>
          <p:nvPr/>
        </p:nvSpPr>
        <p:spPr>
          <a:xfrm>
            <a:off x="793790" y="330684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Default Port Status:</a:t>
            </a:r>
            <a:r>
              <a:rPr lang="en-US" sz="1750" dirty="0">
                <a:solidFill>
                  <a:srgbClr val="161613"/>
                </a:solidFill>
                <a:latin typeface="Inter" pitchFamily="34" charset="0"/>
                <a:ea typeface="Inter" pitchFamily="34" charset="-122"/>
                <a:cs typeface="Inter" pitchFamily="34" charset="-120"/>
              </a:rPr>
              <a:t> Generally, trunk ports should be configured as </a:t>
            </a:r>
            <a:r>
              <a:rPr lang="en-US" sz="1750" dirty="0">
                <a:solidFill>
                  <a:srgbClr val="28282F"/>
                </a:solidFill>
                <a:latin typeface="Inter" pitchFamily="34" charset="0"/>
                <a:ea typeface="Inter" pitchFamily="34" charset="-122"/>
                <a:cs typeface="Inter" pitchFamily="34" charset="-120"/>
              </a:rPr>
              <a:t>Trusted</a:t>
            </a:r>
            <a:r>
              <a:rPr lang="en-US" sz="1750" dirty="0">
                <a:solidFill>
                  <a:srgbClr val="161613"/>
                </a:solidFill>
                <a:latin typeface="Inter" pitchFamily="34" charset="0"/>
                <a:ea typeface="Inter" pitchFamily="34" charset="-122"/>
                <a:cs typeface="Inter" pitchFamily="34" charset="-120"/>
              </a:rPr>
              <a:t>, and access ports as </a:t>
            </a:r>
            <a:r>
              <a:rPr lang="en-US" sz="1750" dirty="0">
                <a:solidFill>
                  <a:srgbClr val="28282F"/>
                </a:solidFill>
                <a:latin typeface="Inter" pitchFamily="34" charset="0"/>
                <a:ea typeface="Inter" pitchFamily="34" charset="-122"/>
                <a:cs typeface="Inter" pitchFamily="34" charset="-120"/>
              </a:rPr>
              <a:t>Untrusted</a:t>
            </a:r>
            <a:r>
              <a:rPr lang="en-US" sz="1750" dirty="0">
                <a:solidFill>
                  <a:srgbClr val="161613"/>
                </a:solidFill>
                <a:latin typeface="Inter" pitchFamily="34" charset="0"/>
                <a:ea typeface="Inter" pitchFamily="34" charset="-122"/>
                <a:cs typeface="Inter" pitchFamily="34" charset="-120"/>
              </a:rPr>
              <a:t>.</a:t>
            </a:r>
            <a:endParaRPr lang="en-US" sz="1750" dirty="0"/>
          </a:p>
        </p:txBody>
      </p:sp>
      <p:sp>
        <p:nvSpPr>
          <p:cNvPr id="5" name="Text 3"/>
          <p:cNvSpPr/>
          <p:nvPr/>
        </p:nvSpPr>
        <p:spPr>
          <a:xfrm>
            <a:off x="793790" y="3749040"/>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Static IP Devices:</a:t>
            </a:r>
            <a:r>
              <a:rPr lang="en-US" sz="1750" dirty="0">
                <a:solidFill>
                  <a:srgbClr val="161613"/>
                </a:solidFill>
                <a:latin typeface="Inter" pitchFamily="34" charset="0"/>
                <a:ea typeface="Inter" pitchFamily="34" charset="-122"/>
                <a:cs typeface="Inter" pitchFamily="34" charset="-120"/>
              </a:rPr>
              <a:t> Devices with static IP addresses or critical infrastructure services (e.g., servers) should be placed on </a:t>
            </a:r>
            <a:r>
              <a:rPr lang="en-US" sz="1750" dirty="0">
                <a:solidFill>
                  <a:srgbClr val="28282F"/>
                </a:solidFill>
                <a:latin typeface="Inter" pitchFamily="34" charset="0"/>
                <a:ea typeface="Inter" pitchFamily="34" charset="-122"/>
                <a:cs typeface="Inter" pitchFamily="34" charset="-120"/>
              </a:rPr>
              <a:t>Trusted</a:t>
            </a:r>
            <a:r>
              <a:rPr lang="en-US" sz="1750" dirty="0">
                <a:solidFill>
                  <a:srgbClr val="161613"/>
                </a:solidFill>
                <a:latin typeface="Inter" pitchFamily="34" charset="0"/>
                <a:ea typeface="Inter" pitchFamily="34" charset="-122"/>
                <a:cs typeface="Inter" pitchFamily="34" charset="-120"/>
              </a:rPr>
              <a:t> ports to prevent unintended blocking.</a:t>
            </a:r>
            <a:endParaRPr lang="en-US" sz="1750" dirty="0"/>
          </a:p>
        </p:txBody>
      </p:sp>
      <p:sp>
        <p:nvSpPr>
          <p:cNvPr id="6" name="Text 4"/>
          <p:cNvSpPr/>
          <p:nvPr/>
        </p:nvSpPr>
        <p:spPr>
          <a:xfrm>
            <a:off x="793790" y="4554141"/>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802.1X Integration:</a:t>
            </a:r>
            <a:r>
              <a:rPr lang="en-US" sz="1750" dirty="0">
                <a:solidFill>
                  <a:srgbClr val="161613"/>
                </a:solidFill>
                <a:latin typeface="Inter" pitchFamily="34" charset="0"/>
                <a:ea typeface="Inter" pitchFamily="34" charset="-122"/>
                <a:cs typeface="Inter" pitchFamily="34" charset="-120"/>
              </a:rPr>
              <a:t> When combining IP Source Guard with 802.1X authentication, ensure compatibility, often by using single supplicant mode.</a:t>
            </a:r>
            <a:endParaRPr lang="en-US" sz="1750" dirty="0"/>
          </a:p>
        </p:txBody>
      </p:sp>
      <p:sp>
        <p:nvSpPr>
          <p:cNvPr id="7" name="Text 5"/>
          <p:cNvSpPr/>
          <p:nvPr/>
        </p:nvSpPr>
        <p:spPr>
          <a:xfrm>
            <a:off x="793790" y="5359241"/>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Continuous Monitoring:</a:t>
            </a:r>
            <a:r>
              <a:rPr lang="en-US" sz="1750" dirty="0">
                <a:solidFill>
                  <a:srgbClr val="161613"/>
                </a:solidFill>
                <a:latin typeface="Inter" pitchFamily="34" charset="0"/>
                <a:ea typeface="Inter" pitchFamily="34" charset="-122"/>
                <a:cs typeface="Inter" pitchFamily="34" charset="-120"/>
              </a:rPr>
              <a:t> Regularly monitor logs and DHCP binding tables for any anomalies or signs of suspicious activity.</a:t>
            </a:r>
            <a:endParaRPr lang="en-US" sz="1750" dirty="0"/>
          </a:p>
        </p:txBody>
      </p:sp>
      <p:sp>
        <p:nvSpPr>
          <p:cNvPr id="8" name="Text 6"/>
          <p:cNvSpPr/>
          <p:nvPr/>
        </p:nvSpPr>
        <p:spPr>
          <a:xfrm>
            <a:off x="793790" y="634019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Adhering to these best practices ensures that your network remains secure without disrupting legitimate operations.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13215"/>
          </a:xfrm>
          <a:prstGeom prst="rect">
            <a:avLst/>
          </a:prstGeom>
        </p:spPr>
      </p:pic>
      <p:sp>
        <p:nvSpPr>
          <p:cNvPr id="3" name="Text 0"/>
          <p:cNvSpPr/>
          <p:nvPr/>
        </p:nvSpPr>
        <p:spPr>
          <a:xfrm>
            <a:off x="535662" y="2334101"/>
            <a:ext cx="10999470" cy="478274"/>
          </a:xfrm>
          <a:prstGeom prst="rect">
            <a:avLst/>
          </a:prstGeom>
          <a:noFill/>
          <a:ln/>
        </p:spPr>
        <p:txBody>
          <a:bodyPr wrap="none" lIns="0" tIns="0" rIns="0" bIns="0" rtlCol="0" anchor="t"/>
          <a:lstStyle/>
          <a:p>
            <a:pPr marL="0" indent="0" algn="l">
              <a:lnSpc>
                <a:spcPts val="3750"/>
              </a:lnSpc>
              <a:buNone/>
            </a:pPr>
            <a:r>
              <a:rPr lang="en-US" sz="3000" dirty="0">
                <a:solidFill>
                  <a:srgbClr val="161613"/>
                </a:solidFill>
                <a:latin typeface="DM Sans Medium" pitchFamily="34" charset="0"/>
                <a:ea typeface="DM Sans Medium" pitchFamily="34" charset="-122"/>
                <a:cs typeface="DM Sans Medium" pitchFamily="34" charset="-120"/>
              </a:rPr>
              <a:t>Real-World Example: Configuring DHCP Snooping on a Switch</a:t>
            </a:r>
            <a:endParaRPr lang="en-US" sz="3000" dirty="0"/>
          </a:p>
        </p:txBody>
      </p:sp>
      <p:sp>
        <p:nvSpPr>
          <p:cNvPr id="4" name="Text 1"/>
          <p:cNvSpPr/>
          <p:nvPr/>
        </p:nvSpPr>
        <p:spPr>
          <a:xfrm>
            <a:off x="765215" y="3271480"/>
            <a:ext cx="2212062" cy="239078"/>
          </a:xfrm>
          <a:prstGeom prst="rect">
            <a:avLst/>
          </a:prstGeom>
          <a:noFill/>
          <a:ln/>
        </p:spPr>
        <p:txBody>
          <a:bodyPr wrap="none" lIns="0" tIns="0" rIns="0" bIns="0" rtlCol="0" anchor="t"/>
          <a:lstStyle/>
          <a:p>
            <a:pPr marL="0" indent="0" algn="l">
              <a:lnSpc>
                <a:spcPts val="1850"/>
              </a:lnSpc>
              <a:buNone/>
            </a:pPr>
            <a:r>
              <a:rPr lang="en-US" sz="1500" dirty="0">
                <a:solidFill>
                  <a:srgbClr val="161613"/>
                </a:solidFill>
                <a:latin typeface="DM Sans Medium" pitchFamily="34" charset="0"/>
                <a:ea typeface="DM Sans Medium" pitchFamily="34" charset="-122"/>
                <a:cs typeface="DM Sans Medium" pitchFamily="34" charset="-120"/>
              </a:rPr>
              <a:t>Key Configuration Steps:</a:t>
            </a:r>
            <a:endParaRPr lang="en-US" sz="1500" dirty="0"/>
          </a:p>
        </p:txBody>
      </p:sp>
      <p:sp>
        <p:nvSpPr>
          <p:cNvPr id="5" name="Text 2"/>
          <p:cNvSpPr/>
          <p:nvPr/>
        </p:nvSpPr>
        <p:spPr>
          <a:xfrm>
            <a:off x="765215" y="3740110"/>
            <a:ext cx="13329523" cy="244912"/>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28282F"/>
                </a:solidFill>
                <a:latin typeface="Inter" pitchFamily="34" charset="0"/>
                <a:ea typeface="Inter" pitchFamily="34" charset="-122"/>
                <a:cs typeface="Inter" pitchFamily="34" charset="-120"/>
              </a:rPr>
              <a:t>Authorize DHCP Server IPs:</a:t>
            </a:r>
            <a:r>
              <a:rPr lang="en-US" sz="1200" dirty="0">
                <a:solidFill>
                  <a:srgbClr val="161613"/>
                </a:solidFill>
                <a:latin typeface="Inter" pitchFamily="34" charset="0"/>
                <a:ea typeface="Inter" pitchFamily="34" charset="-122"/>
                <a:cs typeface="Inter" pitchFamily="34" charset="-120"/>
              </a:rPr>
              <a:t> Define the legitimate DHCP server(s) that the switch will trust.</a:t>
            </a:r>
            <a:endParaRPr lang="en-US" sz="1200" dirty="0"/>
          </a:p>
        </p:txBody>
      </p:sp>
      <p:sp>
        <p:nvSpPr>
          <p:cNvPr id="6" name="Text 3"/>
          <p:cNvSpPr/>
          <p:nvPr/>
        </p:nvSpPr>
        <p:spPr>
          <a:xfrm>
            <a:off x="765215" y="4038481"/>
            <a:ext cx="13329523" cy="244912"/>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28282F"/>
                </a:solidFill>
                <a:latin typeface="Inter" pitchFamily="34" charset="0"/>
                <a:ea typeface="Inter" pitchFamily="34" charset="-122"/>
                <a:cs typeface="Inter" pitchFamily="34" charset="-120"/>
              </a:rPr>
              <a:t>Trust Uplink Ports:</a:t>
            </a:r>
            <a:r>
              <a:rPr lang="en-US" sz="1200" dirty="0">
                <a:solidFill>
                  <a:srgbClr val="161613"/>
                </a:solidFill>
                <a:latin typeface="Inter" pitchFamily="34" charset="0"/>
                <a:ea typeface="Inter" pitchFamily="34" charset="-122"/>
                <a:cs typeface="Inter" pitchFamily="34" charset="-120"/>
              </a:rPr>
              <a:t> Configure ports connected to authorized DHCP servers as trusted.</a:t>
            </a:r>
            <a:endParaRPr lang="en-US" sz="1200" dirty="0"/>
          </a:p>
        </p:txBody>
      </p:sp>
      <p:sp>
        <p:nvSpPr>
          <p:cNvPr id="7" name="Text 4"/>
          <p:cNvSpPr/>
          <p:nvPr/>
        </p:nvSpPr>
        <p:spPr>
          <a:xfrm>
            <a:off x="765215" y="4336852"/>
            <a:ext cx="13329523" cy="244912"/>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28282F"/>
                </a:solidFill>
                <a:latin typeface="Inter" pitchFamily="34" charset="0"/>
                <a:ea typeface="Inter" pitchFamily="34" charset="-122"/>
                <a:cs typeface="Inter" pitchFamily="34" charset="-120"/>
              </a:rPr>
              <a:t>Enable on VLANs:</a:t>
            </a:r>
            <a:r>
              <a:rPr lang="en-US" sz="1200" dirty="0">
                <a:solidFill>
                  <a:srgbClr val="161613"/>
                </a:solidFill>
                <a:latin typeface="Inter" pitchFamily="34" charset="0"/>
                <a:ea typeface="Inter" pitchFamily="34" charset="-122"/>
                <a:cs typeface="Inter" pitchFamily="34" charset="-120"/>
              </a:rPr>
              <a:t> Activate DHCP snooping on all VLANs where client devices reside.</a:t>
            </a:r>
            <a:endParaRPr lang="en-US" sz="1200" dirty="0"/>
          </a:p>
        </p:txBody>
      </p:sp>
      <p:sp>
        <p:nvSpPr>
          <p:cNvPr id="8" name="Text 5"/>
          <p:cNvSpPr/>
          <p:nvPr/>
        </p:nvSpPr>
        <p:spPr>
          <a:xfrm>
            <a:off x="765215" y="4811316"/>
            <a:ext cx="3142297" cy="239078"/>
          </a:xfrm>
          <a:prstGeom prst="rect">
            <a:avLst/>
          </a:prstGeom>
          <a:noFill/>
          <a:ln/>
        </p:spPr>
        <p:txBody>
          <a:bodyPr wrap="none" lIns="0" tIns="0" rIns="0" bIns="0" rtlCol="0" anchor="t"/>
          <a:lstStyle/>
          <a:p>
            <a:pPr marL="0" indent="0" algn="l">
              <a:lnSpc>
                <a:spcPts val="1850"/>
              </a:lnSpc>
              <a:buNone/>
            </a:pPr>
            <a:r>
              <a:rPr lang="en-US" sz="1500" dirty="0">
                <a:solidFill>
                  <a:srgbClr val="161613"/>
                </a:solidFill>
                <a:latin typeface="DM Sans Medium" pitchFamily="34" charset="0"/>
                <a:ea typeface="DM Sans Medium" pitchFamily="34" charset="-122"/>
                <a:cs typeface="DM Sans Medium" pitchFamily="34" charset="-120"/>
              </a:rPr>
              <a:t>Aruba Switch Example Commands:</a:t>
            </a:r>
            <a:endParaRPr lang="en-US" sz="1500" dirty="0"/>
          </a:p>
        </p:txBody>
      </p:sp>
      <p:sp>
        <p:nvSpPr>
          <p:cNvPr id="9" name="Shape 6"/>
          <p:cNvSpPr/>
          <p:nvPr/>
        </p:nvSpPr>
        <p:spPr>
          <a:xfrm>
            <a:off x="765215" y="5279946"/>
            <a:ext cx="13329523" cy="1943933"/>
          </a:xfrm>
          <a:prstGeom prst="roundRect">
            <a:avLst>
              <a:gd name="adj" fmla="val 1181"/>
            </a:avLst>
          </a:prstGeom>
          <a:solidFill>
            <a:srgbClr val="ECEBE8"/>
          </a:solidFill>
          <a:ln/>
        </p:spPr>
        <p:txBody>
          <a:bodyPr/>
          <a:lstStyle/>
          <a:p>
            <a:endParaRPr lang="en-US"/>
          </a:p>
        </p:txBody>
      </p:sp>
      <p:sp>
        <p:nvSpPr>
          <p:cNvPr id="10" name="Shape 7"/>
          <p:cNvSpPr/>
          <p:nvPr/>
        </p:nvSpPr>
        <p:spPr>
          <a:xfrm>
            <a:off x="757595" y="5279946"/>
            <a:ext cx="13344763" cy="1943933"/>
          </a:xfrm>
          <a:prstGeom prst="roundRect">
            <a:avLst>
              <a:gd name="adj" fmla="val 1181"/>
            </a:avLst>
          </a:prstGeom>
          <a:solidFill>
            <a:srgbClr val="ECEBE8"/>
          </a:solidFill>
          <a:ln/>
        </p:spPr>
        <p:txBody>
          <a:bodyPr/>
          <a:lstStyle/>
          <a:p>
            <a:endParaRPr lang="en-US"/>
          </a:p>
        </p:txBody>
      </p:sp>
      <p:sp>
        <p:nvSpPr>
          <p:cNvPr id="11" name="Text 8"/>
          <p:cNvSpPr/>
          <p:nvPr/>
        </p:nvSpPr>
        <p:spPr>
          <a:xfrm>
            <a:off x="910590" y="5394722"/>
            <a:ext cx="13038773" cy="1714381"/>
          </a:xfrm>
          <a:prstGeom prst="rect">
            <a:avLst/>
          </a:prstGeom>
          <a:noFill/>
          <a:ln/>
        </p:spPr>
        <p:txBody>
          <a:bodyPr wrap="square" lIns="0" tIns="0" rIns="0" bIns="0" rtlCol="0" anchor="t"/>
          <a:lstStyle/>
          <a:p>
            <a:pPr marL="0" indent="0" algn="l">
              <a:lnSpc>
                <a:spcPts val="1900"/>
              </a:lnSpc>
              <a:buNone/>
            </a:pPr>
            <a:r>
              <a:rPr lang="en-US" sz="1200" dirty="0">
                <a:solidFill>
                  <a:srgbClr val="161613"/>
                </a:solidFill>
                <a:highlight>
                  <a:srgbClr val="ECEBE8"/>
                </a:highlight>
                <a:latin typeface="Consolas" pitchFamily="34" charset="0"/>
                <a:ea typeface="Consolas" pitchFamily="34" charset="-122"/>
                <a:cs typeface="Consolas" pitchFamily="34" charset="-120"/>
              </a:rPr>
              <a:t>switch(config)# dhcp-snooping authorized-server 10.0.0.10</a:t>
            </a:r>
          </a:p>
          <a:p>
            <a:pPr marL="0" indent="0" algn="l">
              <a:lnSpc>
                <a:spcPts val="1900"/>
              </a:lnSpc>
              <a:buNone/>
            </a:pPr>
            <a:r>
              <a:rPr lang="en-US" sz="1200" dirty="0">
                <a:solidFill>
                  <a:srgbClr val="161613"/>
                </a:solidFill>
                <a:highlight>
                  <a:srgbClr val="ECEBE8"/>
                </a:highlight>
                <a:latin typeface="Consolas" pitchFamily="34" charset="0"/>
                <a:ea typeface="Consolas" pitchFamily="34" charset="-122"/>
                <a:cs typeface="Consolas" pitchFamily="34" charset="-120"/>
              </a:rPr>
              <a:t>switch(config)# interface 1/1/1</a:t>
            </a:r>
          </a:p>
          <a:p>
            <a:pPr marL="0" indent="0" algn="l">
              <a:lnSpc>
                <a:spcPts val="1900"/>
              </a:lnSpc>
              <a:buNone/>
            </a:pPr>
            <a:r>
              <a:rPr lang="en-US" sz="1200" dirty="0">
                <a:solidFill>
                  <a:srgbClr val="161613"/>
                </a:solidFill>
                <a:highlight>
                  <a:srgbClr val="ECEBE8"/>
                </a:highlight>
                <a:latin typeface="Consolas" pitchFamily="34" charset="0"/>
                <a:ea typeface="Consolas" pitchFamily="34" charset="-122"/>
                <a:cs typeface="Consolas" pitchFamily="34" charset="-120"/>
              </a:rPr>
              <a:t>switch(config-if)# </a:t>
            </a:r>
            <a:r>
              <a:rPr lang="en-US" sz="1200" dirty="0" err="1">
                <a:solidFill>
                  <a:srgbClr val="161613"/>
                </a:solidFill>
                <a:highlight>
                  <a:srgbClr val="ECEBE8"/>
                </a:highlight>
                <a:latin typeface="Consolas" pitchFamily="34" charset="0"/>
                <a:ea typeface="Consolas" pitchFamily="34" charset="-122"/>
                <a:cs typeface="Consolas" pitchFamily="34" charset="-120"/>
              </a:rPr>
              <a:t>dhcp</a:t>
            </a:r>
            <a:r>
              <a:rPr lang="en-US" sz="1200" dirty="0">
                <a:solidFill>
                  <a:srgbClr val="161613"/>
                </a:solidFill>
                <a:highlight>
                  <a:srgbClr val="ECEBE8"/>
                </a:highlight>
                <a:latin typeface="Consolas" pitchFamily="34" charset="0"/>
                <a:ea typeface="Consolas" pitchFamily="34" charset="-122"/>
                <a:cs typeface="Consolas" pitchFamily="34" charset="-120"/>
              </a:rPr>
              <a:t>-snooping trust</a:t>
            </a:r>
          </a:p>
          <a:p>
            <a:pPr marL="0" indent="0" algn="l">
              <a:lnSpc>
                <a:spcPts val="1900"/>
              </a:lnSpc>
              <a:buNone/>
            </a:pPr>
            <a:r>
              <a:rPr lang="en-US" sz="1200" dirty="0">
                <a:solidFill>
                  <a:srgbClr val="161613"/>
                </a:solidFill>
                <a:highlight>
                  <a:srgbClr val="ECEBE8"/>
                </a:highlight>
                <a:latin typeface="Consolas" pitchFamily="34" charset="0"/>
                <a:ea typeface="Consolas" pitchFamily="34" charset="-122"/>
                <a:cs typeface="Consolas" pitchFamily="34" charset="-120"/>
              </a:rPr>
              <a:t>switch(config-if)# exit</a:t>
            </a:r>
          </a:p>
          <a:p>
            <a:pPr marL="0" indent="0" algn="l">
              <a:lnSpc>
                <a:spcPts val="1900"/>
              </a:lnSpc>
              <a:buNone/>
            </a:pPr>
            <a:r>
              <a:rPr lang="en-US" sz="1200" dirty="0">
                <a:solidFill>
                  <a:srgbClr val="161613"/>
                </a:solidFill>
                <a:highlight>
                  <a:srgbClr val="ECEBE8"/>
                </a:highlight>
                <a:latin typeface="Consolas" pitchFamily="34" charset="0"/>
                <a:ea typeface="Consolas" pitchFamily="34" charset="-122"/>
                <a:cs typeface="Consolas" pitchFamily="34" charset="-120"/>
              </a:rPr>
              <a:t>switch(config)# </a:t>
            </a:r>
            <a:r>
              <a:rPr lang="en-US" sz="1200" dirty="0" err="1">
                <a:solidFill>
                  <a:srgbClr val="161613"/>
                </a:solidFill>
                <a:highlight>
                  <a:srgbClr val="ECEBE8"/>
                </a:highlight>
                <a:latin typeface="Consolas" pitchFamily="34" charset="0"/>
                <a:ea typeface="Consolas" pitchFamily="34" charset="-122"/>
                <a:cs typeface="Consolas" pitchFamily="34" charset="-120"/>
              </a:rPr>
              <a:t>dhcp</a:t>
            </a:r>
            <a:r>
              <a:rPr lang="en-US" sz="1200" dirty="0">
                <a:solidFill>
                  <a:srgbClr val="161613"/>
                </a:solidFill>
                <a:highlight>
                  <a:srgbClr val="ECEBE8"/>
                </a:highlight>
                <a:latin typeface="Consolas" pitchFamily="34" charset="0"/>
                <a:ea typeface="Consolas" pitchFamily="34" charset="-122"/>
                <a:cs typeface="Consolas" pitchFamily="34" charset="-120"/>
              </a:rPr>
              <a:t>-snooping </a:t>
            </a:r>
            <a:r>
              <a:rPr lang="en-US" sz="1200" dirty="0" err="1">
                <a:solidFill>
                  <a:srgbClr val="161613"/>
                </a:solidFill>
                <a:highlight>
                  <a:srgbClr val="ECEBE8"/>
                </a:highlight>
                <a:latin typeface="Consolas" pitchFamily="34" charset="0"/>
                <a:ea typeface="Consolas" pitchFamily="34" charset="-122"/>
                <a:cs typeface="Consolas" pitchFamily="34" charset="-120"/>
              </a:rPr>
              <a:t>vlan</a:t>
            </a:r>
            <a:r>
              <a:rPr lang="en-US" sz="1200" dirty="0">
                <a:solidFill>
                  <a:srgbClr val="161613"/>
                </a:solidFill>
                <a:highlight>
                  <a:srgbClr val="ECEBE8"/>
                </a:highlight>
                <a:latin typeface="Consolas" pitchFamily="34" charset="0"/>
                <a:ea typeface="Consolas" pitchFamily="34" charset="-122"/>
                <a:cs typeface="Consolas" pitchFamily="34" charset="-120"/>
              </a:rPr>
              <a:t> 10,20,30</a:t>
            </a:r>
          </a:p>
          <a:p>
            <a:pPr>
              <a:lnSpc>
                <a:spcPts val="1900"/>
              </a:lnSpc>
            </a:pPr>
            <a:r>
              <a:rPr lang="en-US" sz="1200" dirty="0">
                <a:solidFill>
                  <a:srgbClr val="161613"/>
                </a:solidFill>
                <a:highlight>
                  <a:srgbClr val="ECEBE8"/>
                </a:highlight>
                <a:latin typeface="Consolas" pitchFamily="34" charset="0"/>
                <a:ea typeface="Consolas" pitchFamily="34" charset="-122"/>
                <a:cs typeface="Consolas" pitchFamily="34" charset="-120"/>
              </a:rPr>
              <a:t>switch(config)# </a:t>
            </a:r>
            <a:r>
              <a:rPr lang="en-US" sz="1200" dirty="0">
                <a:solidFill>
                  <a:srgbClr val="161613"/>
                </a:solidFill>
                <a:latin typeface="Consolas" pitchFamily="34" charset="0"/>
                <a:ea typeface="Consolas" pitchFamily="34" charset="-122"/>
                <a:cs typeface="Consolas" pitchFamily="34" charset="-120"/>
              </a:rPr>
              <a:t>interface range 1/1/1 -4</a:t>
            </a:r>
            <a:endParaRPr lang="en-US" sz="1200" dirty="0">
              <a:solidFill>
                <a:srgbClr val="161613"/>
              </a:solidFill>
              <a:highlight>
                <a:srgbClr val="ECEBE8"/>
              </a:highlight>
              <a:latin typeface="Consolas" pitchFamily="34" charset="0"/>
              <a:ea typeface="Consolas" pitchFamily="34" charset="-122"/>
              <a:cs typeface="Consolas" pitchFamily="34" charset="-120"/>
            </a:endParaRPr>
          </a:p>
          <a:p>
            <a:pPr>
              <a:lnSpc>
                <a:spcPts val="1900"/>
              </a:lnSpc>
            </a:pPr>
            <a:r>
              <a:rPr lang="en-US" sz="1200" dirty="0">
                <a:solidFill>
                  <a:srgbClr val="161613"/>
                </a:solidFill>
                <a:latin typeface="Consolas" pitchFamily="34" charset="0"/>
                <a:ea typeface="Consolas" pitchFamily="34" charset="-122"/>
                <a:cs typeface="Consolas" pitchFamily="34" charset="-120"/>
              </a:rPr>
              <a:t>switch(config)# switchport port-security mac-address sticky</a:t>
            </a:r>
          </a:p>
          <a:p>
            <a:pPr marL="0" indent="0" algn="l">
              <a:lnSpc>
                <a:spcPts val="1900"/>
              </a:lnSpc>
              <a:buNone/>
            </a:pPr>
            <a:endParaRPr lang="en-US" sz="1200" dirty="0">
              <a:solidFill>
                <a:srgbClr val="161613"/>
              </a:solidFill>
              <a:highlight>
                <a:srgbClr val="ECEBE8"/>
              </a:highlight>
              <a:latin typeface="Consolas" pitchFamily="34" charset="0"/>
              <a:ea typeface="Consolas" pitchFamily="34" charset="-122"/>
              <a:cs typeface="Consolas" pitchFamily="34" charset="-120"/>
            </a:endParaRPr>
          </a:p>
        </p:txBody>
      </p:sp>
      <p:sp>
        <p:nvSpPr>
          <p:cNvPr id="12" name="Shape 9"/>
          <p:cNvSpPr/>
          <p:nvPr/>
        </p:nvSpPr>
        <p:spPr>
          <a:xfrm>
            <a:off x="535662" y="3041928"/>
            <a:ext cx="22860" cy="4354116"/>
          </a:xfrm>
          <a:prstGeom prst="rect">
            <a:avLst/>
          </a:prstGeom>
          <a:solidFill>
            <a:srgbClr val="28282F"/>
          </a:solidFill>
          <a:ln/>
        </p:spPr>
        <p:txBody>
          <a:bodyPr/>
          <a:lstStyle/>
          <a:p>
            <a:endParaRPr lang="en-US"/>
          </a:p>
        </p:txBody>
      </p:sp>
      <p:sp>
        <p:nvSpPr>
          <p:cNvPr id="13" name="Text 10"/>
          <p:cNvSpPr/>
          <p:nvPr/>
        </p:nvSpPr>
        <p:spPr>
          <a:xfrm>
            <a:off x="535662" y="7568208"/>
            <a:ext cx="13559076" cy="244912"/>
          </a:xfrm>
          <a:prstGeom prst="rect">
            <a:avLst/>
          </a:prstGeom>
          <a:noFill/>
          <a:ln/>
        </p:spPr>
        <p:txBody>
          <a:bodyPr wrap="none" lIns="0" tIns="0" rIns="0" bIns="0" rtlCol="0" anchor="t"/>
          <a:lstStyle/>
          <a:p>
            <a:pPr marL="0" indent="0" algn="l">
              <a:lnSpc>
                <a:spcPts val="1900"/>
              </a:lnSpc>
              <a:buNone/>
            </a:pPr>
            <a:r>
              <a:rPr lang="en-US" sz="1200" dirty="0">
                <a:solidFill>
                  <a:srgbClr val="161613"/>
                </a:solidFill>
                <a:latin typeface="Inter" pitchFamily="34" charset="0"/>
                <a:ea typeface="Inter" pitchFamily="34" charset="-122"/>
                <a:cs typeface="Inter" pitchFamily="34" charset="-120"/>
              </a:rPr>
              <a:t>This configuration prevents rogue DHCP servers from operating and ensures clients receive valid IP assignments, protecting against common network attacks.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191816"/>
            <a:ext cx="11397972"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The Impact: Why These Protections Matter</a:t>
            </a:r>
            <a:endParaRPr lang="en-US" sz="4450" dirty="0"/>
          </a:p>
        </p:txBody>
      </p:sp>
      <p:sp>
        <p:nvSpPr>
          <p:cNvPr id="3" name="Shape 1"/>
          <p:cNvSpPr/>
          <p:nvPr/>
        </p:nvSpPr>
        <p:spPr>
          <a:xfrm>
            <a:off x="793790" y="2354223"/>
            <a:ext cx="13042821" cy="3702606"/>
          </a:xfrm>
          <a:prstGeom prst="roundRect">
            <a:avLst>
              <a:gd name="adj" fmla="val 919"/>
            </a:avLst>
          </a:prstGeom>
          <a:solidFill>
            <a:srgbClr val="EDEBE3"/>
          </a:solidFill>
          <a:ln/>
        </p:spPr>
        <p:txBody>
          <a:bodyPr/>
          <a:lstStyle/>
          <a:p>
            <a:endParaRPr lang="en-US"/>
          </a:p>
        </p:txBody>
      </p:sp>
      <p:sp>
        <p:nvSpPr>
          <p:cNvPr id="4" name="Shape 2"/>
          <p:cNvSpPr/>
          <p:nvPr/>
        </p:nvSpPr>
        <p:spPr>
          <a:xfrm>
            <a:off x="793790" y="2354223"/>
            <a:ext cx="6521410" cy="2032754"/>
          </a:xfrm>
          <a:prstGeom prst="roundRect">
            <a:avLst>
              <a:gd name="adj" fmla="val 1674"/>
            </a:avLst>
          </a:prstGeom>
          <a:solidFill>
            <a:srgbClr val="EDEBE3"/>
          </a:solidFill>
          <a:ln/>
        </p:spPr>
        <p:txBody>
          <a:bodyPr/>
          <a:lstStyle/>
          <a:p>
            <a:endParaRPr lang="en-US"/>
          </a:p>
        </p:txBody>
      </p:sp>
      <p:sp>
        <p:nvSpPr>
          <p:cNvPr id="5" name="Text 3"/>
          <p:cNvSpPr/>
          <p:nvPr/>
        </p:nvSpPr>
        <p:spPr>
          <a:xfrm>
            <a:off x="1020604" y="2581037"/>
            <a:ext cx="3367088"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Prevents Traffic Hijacking</a:t>
            </a:r>
            <a:endParaRPr lang="en-US" sz="2200" dirty="0"/>
          </a:p>
        </p:txBody>
      </p:sp>
      <p:sp>
        <p:nvSpPr>
          <p:cNvPr id="6" name="Text 4"/>
          <p:cNvSpPr/>
          <p:nvPr/>
        </p:nvSpPr>
        <p:spPr>
          <a:xfrm>
            <a:off x="1020604" y="3071455"/>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Blocks attackers from redirecting network traffic, safeguarding data and preventing denial-of-service.</a:t>
            </a:r>
            <a:endParaRPr lang="en-US" sz="1750" dirty="0"/>
          </a:p>
        </p:txBody>
      </p:sp>
      <p:sp>
        <p:nvSpPr>
          <p:cNvPr id="7" name="Shape 5"/>
          <p:cNvSpPr/>
          <p:nvPr/>
        </p:nvSpPr>
        <p:spPr>
          <a:xfrm>
            <a:off x="7315200" y="2354223"/>
            <a:ext cx="6521410" cy="2032754"/>
          </a:xfrm>
          <a:prstGeom prst="rect">
            <a:avLst/>
          </a:prstGeom>
          <a:solidFill>
            <a:srgbClr val="EDEBE3"/>
          </a:solidFill>
          <a:ln/>
        </p:spPr>
        <p:txBody>
          <a:bodyPr/>
          <a:lstStyle/>
          <a:p>
            <a:endParaRPr lang="en-US"/>
          </a:p>
        </p:txBody>
      </p:sp>
      <p:sp>
        <p:nvSpPr>
          <p:cNvPr id="8" name="Shape 6"/>
          <p:cNvSpPr/>
          <p:nvPr/>
        </p:nvSpPr>
        <p:spPr>
          <a:xfrm>
            <a:off x="7315200" y="2354223"/>
            <a:ext cx="30480" cy="2032754"/>
          </a:xfrm>
          <a:prstGeom prst="roundRect">
            <a:avLst>
              <a:gd name="adj" fmla="val 111628"/>
            </a:avLst>
          </a:prstGeom>
          <a:solidFill>
            <a:srgbClr val="D3D1C9"/>
          </a:solidFill>
          <a:ln/>
        </p:spPr>
        <p:txBody>
          <a:bodyPr/>
          <a:lstStyle/>
          <a:p>
            <a:endParaRPr lang="en-US"/>
          </a:p>
        </p:txBody>
      </p:sp>
      <p:sp>
        <p:nvSpPr>
          <p:cNvPr id="9" name="Text 7"/>
          <p:cNvSpPr/>
          <p:nvPr/>
        </p:nvSpPr>
        <p:spPr>
          <a:xfrm>
            <a:off x="7882176" y="2581037"/>
            <a:ext cx="368105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Maintains Network Integrity</a:t>
            </a:r>
            <a:endParaRPr lang="en-US" sz="2200" dirty="0"/>
          </a:p>
        </p:txBody>
      </p:sp>
      <p:sp>
        <p:nvSpPr>
          <p:cNvPr id="10" name="Text 8"/>
          <p:cNvSpPr/>
          <p:nvPr/>
        </p:nvSpPr>
        <p:spPr>
          <a:xfrm>
            <a:off x="7882176" y="3071455"/>
            <a:ext cx="5727621"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Ensures only authorized DHCP servers assign IPs, preserving the authenticity and reliability of network services.</a:t>
            </a:r>
            <a:endParaRPr lang="en-US" sz="1750" dirty="0"/>
          </a:p>
        </p:txBody>
      </p:sp>
      <p:sp>
        <p:nvSpPr>
          <p:cNvPr id="11" name="Shape 9"/>
          <p:cNvSpPr/>
          <p:nvPr/>
        </p:nvSpPr>
        <p:spPr>
          <a:xfrm>
            <a:off x="7031712" y="3087053"/>
            <a:ext cx="566976" cy="566976"/>
          </a:xfrm>
          <a:prstGeom prst="roundRect">
            <a:avLst>
              <a:gd name="adj" fmla="val 6001"/>
            </a:avLst>
          </a:prstGeom>
          <a:solidFill>
            <a:srgbClr val="F9F8F5"/>
          </a:solidFill>
          <a:ln w="30480">
            <a:solidFill>
              <a:srgbClr val="D3D1C9"/>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7173397" y="3193375"/>
            <a:ext cx="283488" cy="354330"/>
          </a:xfrm>
          <a:prstGeom prst="rect">
            <a:avLst/>
          </a:prstGeom>
        </p:spPr>
      </p:pic>
      <p:sp>
        <p:nvSpPr>
          <p:cNvPr id="13" name="Shape 10"/>
          <p:cNvSpPr/>
          <p:nvPr/>
        </p:nvSpPr>
        <p:spPr>
          <a:xfrm>
            <a:off x="793790" y="4386977"/>
            <a:ext cx="6521410" cy="1669852"/>
          </a:xfrm>
          <a:prstGeom prst="rect">
            <a:avLst/>
          </a:prstGeom>
          <a:solidFill>
            <a:srgbClr val="EDEBE3"/>
          </a:solidFill>
          <a:ln/>
        </p:spPr>
        <p:txBody>
          <a:bodyPr/>
          <a:lstStyle/>
          <a:p>
            <a:endParaRPr lang="en-US"/>
          </a:p>
        </p:txBody>
      </p:sp>
      <p:sp>
        <p:nvSpPr>
          <p:cNvPr id="14" name="Shape 11"/>
          <p:cNvSpPr/>
          <p:nvPr/>
        </p:nvSpPr>
        <p:spPr>
          <a:xfrm>
            <a:off x="793790" y="4386977"/>
            <a:ext cx="6521410" cy="30480"/>
          </a:xfrm>
          <a:prstGeom prst="roundRect">
            <a:avLst>
              <a:gd name="adj" fmla="val 111628"/>
            </a:avLst>
          </a:prstGeom>
          <a:solidFill>
            <a:srgbClr val="D3D1C9"/>
          </a:solidFill>
          <a:ln/>
        </p:spPr>
        <p:txBody>
          <a:bodyPr/>
          <a:lstStyle/>
          <a:p>
            <a:endParaRPr lang="en-US"/>
          </a:p>
        </p:txBody>
      </p:sp>
      <p:sp>
        <p:nvSpPr>
          <p:cNvPr id="15" name="Text 12"/>
          <p:cNvSpPr/>
          <p:nvPr/>
        </p:nvSpPr>
        <p:spPr>
          <a:xfrm>
            <a:off x="1020604" y="4613791"/>
            <a:ext cx="3108841"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Protects Sensitive Data</a:t>
            </a:r>
            <a:endParaRPr lang="en-US" sz="2200" dirty="0"/>
          </a:p>
        </p:txBody>
      </p:sp>
      <p:sp>
        <p:nvSpPr>
          <p:cNvPr id="16" name="Text 13"/>
          <p:cNvSpPr/>
          <p:nvPr/>
        </p:nvSpPr>
        <p:spPr>
          <a:xfrm>
            <a:off x="1020604" y="5104209"/>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Mitigates risks of data interception and credential theft by controlling network access points.</a:t>
            </a:r>
            <a:endParaRPr lang="en-US" sz="1750" dirty="0"/>
          </a:p>
        </p:txBody>
      </p:sp>
      <p:sp>
        <p:nvSpPr>
          <p:cNvPr id="17" name="Shape 14"/>
          <p:cNvSpPr/>
          <p:nvPr/>
        </p:nvSpPr>
        <p:spPr>
          <a:xfrm>
            <a:off x="7315200" y="4386977"/>
            <a:ext cx="6521410" cy="1669852"/>
          </a:xfrm>
          <a:prstGeom prst="rect">
            <a:avLst/>
          </a:prstGeom>
          <a:solidFill>
            <a:srgbClr val="EDEBE3"/>
          </a:solidFill>
          <a:ln/>
        </p:spPr>
        <p:txBody>
          <a:bodyPr/>
          <a:lstStyle/>
          <a:p>
            <a:endParaRPr lang="en-US"/>
          </a:p>
        </p:txBody>
      </p:sp>
      <p:sp>
        <p:nvSpPr>
          <p:cNvPr id="18" name="Shape 15"/>
          <p:cNvSpPr/>
          <p:nvPr/>
        </p:nvSpPr>
        <p:spPr>
          <a:xfrm>
            <a:off x="7315200" y="4386977"/>
            <a:ext cx="30480" cy="1669852"/>
          </a:xfrm>
          <a:prstGeom prst="roundRect">
            <a:avLst>
              <a:gd name="adj" fmla="val 111628"/>
            </a:avLst>
          </a:prstGeom>
          <a:solidFill>
            <a:srgbClr val="D3D1C9"/>
          </a:solidFill>
          <a:ln/>
        </p:spPr>
        <p:txBody>
          <a:bodyPr/>
          <a:lstStyle/>
          <a:p>
            <a:endParaRPr lang="en-US"/>
          </a:p>
        </p:txBody>
      </p:sp>
      <p:sp>
        <p:nvSpPr>
          <p:cNvPr id="19" name="Shape 16"/>
          <p:cNvSpPr/>
          <p:nvPr/>
        </p:nvSpPr>
        <p:spPr>
          <a:xfrm>
            <a:off x="7315200" y="4386977"/>
            <a:ext cx="6521410" cy="30480"/>
          </a:xfrm>
          <a:prstGeom prst="roundRect">
            <a:avLst>
              <a:gd name="adj" fmla="val 111628"/>
            </a:avLst>
          </a:prstGeom>
          <a:solidFill>
            <a:srgbClr val="D3D1C9"/>
          </a:solidFill>
          <a:ln/>
        </p:spPr>
        <p:txBody>
          <a:bodyPr/>
          <a:lstStyle/>
          <a:p>
            <a:endParaRPr lang="en-US"/>
          </a:p>
        </p:txBody>
      </p:sp>
      <p:sp>
        <p:nvSpPr>
          <p:cNvPr id="20" name="Text 17"/>
          <p:cNvSpPr/>
          <p:nvPr/>
        </p:nvSpPr>
        <p:spPr>
          <a:xfrm>
            <a:off x="7882176" y="4613791"/>
            <a:ext cx="3088243"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Essential for Enterprise</a:t>
            </a:r>
            <a:endParaRPr lang="en-US" sz="2200" dirty="0"/>
          </a:p>
        </p:txBody>
      </p:sp>
      <p:sp>
        <p:nvSpPr>
          <p:cNvPr id="21" name="Text 18"/>
          <p:cNvSpPr/>
          <p:nvPr/>
        </p:nvSpPr>
        <p:spPr>
          <a:xfrm>
            <a:off x="7882176" y="5104209"/>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Crucial for large, complex networks with numerous devices, ensuring secure and stable operations.</a:t>
            </a:r>
            <a:endParaRPr lang="en-US" sz="1750" dirty="0"/>
          </a:p>
        </p:txBody>
      </p:sp>
      <p:sp>
        <p:nvSpPr>
          <p:cNvPr id="22" name="Shape 19"/>
          <p:cNvSpPr/>
          <p:nvPr/>
        </p:nvSpPr>
        <p:spPr>
          <a:xfrm>
            <a:off x="7031712" y="4938355"/>
            <a:ext cx="566976" cy="566976"/>
          </a:xfrm>
          <a:prstGeom prst="roundRect">
            <a:avLst>
              <a:gd name="adj" fmla="val 6001"/>
            </a:avLst>
          </a:prstGeom>
          <a:solidFill>
            <a:srgbClr val="F9F8F5"/>
          </a:solidFill>
          <a:ln w="30480">
            <a:solidFill>
              <a:srgbClr val="D3D1C9"/>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7173397" y="5044678"/>
            <a:ext cx="283488" cy="354330"/>
          </a:xfrm>
          <a:prstGeom prst="rect">
            <a:avLst/>
          </a:prstGeom>
        </p:spPr>
      </p:pic>
      <p:sp>
        <p:nvSpPr>
          <p:cNvPr id="24" name="Text 20"/>
          <p:cNvSpPr/>
          <p:nvPr/>
        </p:nvSpPr>
        <p:spPr>
          <a:xfrm>
            <a:off x="793790" y="631197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Implementing these security measures provides a foundational layer of defense, making your network more resilient against internal and external threats.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793790" y="735449"/>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Conclusion: Secure Your Network with DHCP Snooping &amp; Port Security</a:t>
            </a:r>
            <a:endParaRPr lang="en-US" sz="4450" dirty="0"/>
          </a:p>
        </p:txBody>
      </p:sp>
      <p:sp>
        <p:nvSpPr>
          <p:cNvPr id="3" name="Shape 1"/>
          <p:cNvSpPr/>
          <p:nvPr/>
        </p:nvSpPr>
        <p:spPr>
          <a:xfrm>
            <a:off x="793790" y="2606635"/>
            <a:ext cx="13042821" cy="3906441"/>
          </a:xfrm>
          <a:prstGeom prst="roundRect">
            <a:avLst>
              <a:gd name="adj" fmla="val 871"/>
            </a:avLst>
          </a:prstGeom>
          <a:solidFill>
            <a:srgbClr val="B6FC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20604" y="2912507"/>
            <a:ext cx="425291" cy="340162"/>
          </a:xfrm>
          <a:prstGeom prst="rect">
            <a:avLst/>
          </a:prstGeom>
        </p:spPr>
      </p:pic>
      <p:sp>
        <p:nvSpPr>
          <p:cNvPr id="5" name="Text 2"/>
          <p:cNvSpPr/>
          <p:nvPr/>
        </p:nvSpPr>
        <p:spPr>
          <a:xfrm>
            <a:off x="1672709" y="2890123"/>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DM Sans Medium" pitchFamily="34" charset="0"/>
                <a:ea typeface="DM Sans Medium" pitchFamily="34" charset="-122"/>
                <a:cs typeface="DM Sans Medium" pitchFamily="34" charset="-120"/>
              </a:rPr>
              <a:t>Key Takeaways:</a:t>
            </a:r>
            <a:endParaRPr lang="en-US" sz="2650" dirty="0"/>
          </a:p>
        </p:txBody>
      </p:sp>
      <p:sp>
        <p:nvSpPr>
          <p:cNvPr id="6" name="Text 3"/>
          <p:cNvSpPr/>
          <p:nvPr/>
        </p:nvSpPr>
        <p:spPr>
          <a:xfrm>
            <a:off x="1672709" y="3542228"/>
            <a:ext cx="11937087"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DHCP Spoofing is a Real Threat:</a:t>
            </a:r>
            <a:r>
              <a:rPr lang="en-US" sz="1750" dirty="0">
                <a:solidFill>
                  <a:srgbClr val="000000"/>
                </a:solidFill>
                <a:latin typeface="Inter" pitchFamily="34" charset="0"/>
                <a:ea typeface="Inter" pitchFamily="34" charset="-122"/>
                <a:cs typeface="Inter" pitchFamily="34" charset="-120"/>
              </a:rPr>
              <a:t> It exploits DHCP vulnerabilities, leading to serious network compromises.</a:t>
            </a:r>
            <a:endParaRPr lang="en-US" sz="1750" dirty="0"/>
          </a:p>
        </p:txBody>
      </p:sp>
      <p:sp>
        <p:nvSpPr>
          <p:cNvPr id="7" name="Text 4"/>
          <p:cNvSpPr/>
          <p:nvPr/>
        </p:nvSpPr>
        <p:spPr>
          <a:xfrm>
            <a:off x="1672709" y="3984427"/>
            <a:ext cx="11937087"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Layered Defense is Key:</a:t>
            </a:r>
            <a:r>
              <a:rPr lang="en-US" sz="1750" dirty="0">
                <a:solidFill>
                  <a:srgbClr val="000000"/>
                </a:solidFill>
                <a:latin typeface="Inter" pitchFamily="34" charset="0"/>
                <a:ea typeface="Inter" pitchFamily="34" charset="-122"/>
                <a:cs typeface="Inter" pitchFamily="34" charset="-120"/>
              </a:rPr>
              <a:t> DHCP snooping, coupled with ARP inspection and IP Source Guard, creates a robust defense.</a:t>
            </a:r>
            <a:endParaRPr lang="en-US" sz="1750" dirty="0"/>
          </a:p>
        </p:txBody>
      </p:sp>
      <p:sp>
        <p:nvSpPr>
          <p:cNvPr id="8" name="Text 5"/>
          <p:cNvSpPr/>
          <p:nvPr/>
        </p:nvSpPr>
        <p:spPr>
          <a:xfrm>
            <a:off x="1672709" y="4789527"/>
            <a:ext cx="11937087"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Configuration Matters:</a:t>
            </a:r>
            <a:r>
              <a:rPr lang="en-US" sz="1750" dirty="0">
                <a:solidFill>
                  <a:srgbClr val="000000"/>
                </a:solidFill>
                <a:latin typeface="Inter" pitchFamily="34" charset="0"/>
                <a:ea typeface="Inter" pitchFamily="34" charset="-122"/>
                <a:cs typeface="Inter" pitchFamily="34" charset="-120"/>
              </a:rPr>
              <a:t> Proper port classification and consistent configuration are vital for effective protection.</a:t>
            </a:r>
            <a:endParaRPr lang="en-US" sz="1750" dirty="0"/>
          </a:p>
        </p:txBody>
      </p:sp>
      <p:sp>
        <p:nvSpPr>
          <p:cNvPr id="9" name="Text 6"/>
          <p:cNvSpPr/>
          <p:nvPr/>
        </p:nvSpPr>
        <p:spPr>
          <a:xfrm>
            <a:off x="1672709" y="5594628"/>
            <a:ext cx="11937087"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Stay Vigilant:</a:t>
            </a:r>
            <a:r>
              <a:rPr lang="en-US" sz="1750" dirty="0">
                <a:solidFill>
                  <a:srgbClr val="000000"/>
                </a:solidFill>
                <a:latin typeface="Inter" pitchFamily="34" charset="0"/>
                <a:ea typeface="Inter" pitchFamily="34" charset="-122"/>
                <a:cs typeface="Inter" pitchFamily="34" charset="-120"/>
              </a:rPr>
              <a:t> Regular monitoring, auditing, and updates are necessary to maintain a secure network posture against evolving threats.</a:t>
            </a:r>
            <a:endParaRPr lang="en-US" sz="1750" dirty="0"/>
          </a:p>
        </p:txBody>
      </p:sp>
      <p:sp>
        <p:nvSpPr>
          <p:cNvPr id="10" name="Text 7"/>
          <p:cNvSpPr/>
          <p:nvPr/>
        </p:nvSpPr>
        <p:spPr>
          <a:xfrm>
            <a:off x="793790" y="676822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By understanding and implementing these critical security measures, you can significantly enhance your network's resilience and safeguard your digital assets.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71415C72-5103-CBC4-414C-EF5F56A61A0D}"/>
              </a:ext>
            </a:extLst>
          </p:cNvPr>
          <p:cNvPicPr>
            <a:picLocks noChangeAspect="1"/>
          </p:cNvPicPr>
          <p:nvPr/>
        </p:nvPicPr>
        <p:blipFill>
          <a:blip r:embed="rId2"/>
          <a:srcRect b="3269"/>
          <a:stretch>
            <a:fillRect/>
          </a:stretch>
        </p:blipFill>
        <p:spPr>
          <a:xfrm>
            <a:off x="0" y="221876"/>
            <a:ext cx="14628942" cy="7785847"/>
          </a:xfrm>
          <a:prstGeom prst="rect">
            <a:avLst/>
          </a:prstGeom>
        </p:spPr>
      </p:pic>
    </p:spTree>
    <p:extLst>
      <p:ext uri="{BB962C8B-B14F-4D97-AF65-F5344CB8AC3E}">
        <p14:creationId xmlns:p14="http://schemas.microsoft.com/office/powerpoint/2010/main" val="2041878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F1D6D0F6-1CA8-04CB-DD2D-785253E72D9D}"/>
              </a:ext>
            </a:extLst>
          </p:cNvPr>
          <p:cNvPicPr>
            <a:picLocks noChangeAspect="1"/>
          </p:cNvPicPr>
          <p:nvPr/>
        </p:nvPicPr>
        <p:blipFill>
          <a:blip r:embed="rId2"/>
          <a:srcRect b="3251"/>
          <a:stretch>
            <a:fillRect/>
          </a:stretch>
        </p:blipFill>
        <p:spPr>
          <a:xfrm>
            <a:off x="0" y="226490"/>
            <a:ext cx="14630400" cy="7787957"/>
          </a:xfrm>
          <a:prstGeom prst="rect">
            <a:avLst/>
          </a:prstGeom>
        </p:spPr>
      </p:pic>
    </p:spTree>
    <p:extLst>
      <p:ext uri="{BB962C8B-B14F-4D97-AF65-F5344CB8AC3E}">
        <p14:creationId xmlns:p14="http://schemas.microsoft.com/office/powerpoint/2010/main" val="2181013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computer screen shot of a diagram&#10;&#10;AI-generated content may be incorrect.">
            <a:extLst>
              <a:ext uri="{FF2B5EF4-FFF2-40B4-BE49-F238E27FC236}">
                <a16:creationId xmlns:a16="http://schemas.microsoft.com/office/drawing/2014/main" id="{59DE2B63-648A-DA84-A02E-92708AC8156E}"/>
              </a:ext>
            </a:extLst>
          </p:cNvPr>
          <p:cNvPicPr>
            <a:picLocks noChangeAspect="1"/>
          </p:cNvPicPr>
          <p:nvPr/>
        </p:nvPicPr>
        <p:blipFill>
          <a:blip r:embed="rId2"/>
          <a:stretch>
            <a:fillRect/>
          </a:stretch>
        </p:blipFill>
        <p:spPr>
          <a:xfrm>
            <a:off x="0" y="228600"/>
            <a:ext cx="14630400" cy="7772400"/>
          </a:xfrm>
          <a:prstGeom prst="rect">
            <a:avLst/>
          </a:prstGeom>
        </p:spPr>
      </p:pic>
    </p:spTree>
    <p:extLst>
      <p:ext uri="{BB962C8B-B14F-4D97-AF65-F5344CB8AC3E}">
        <p14:creationId xmlns:p14="http://schemas.microsoft.com/office/powerpoint/2010/main" val="601759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2DCE3A4-FC83-DD21-3BC8-106F66D78AD3}"/>
              </a:ext>
            </a:extLst>
          </p:cNvPr>
          <p:cNvPicPr>
            <a:picLocks noChangeAspect="1"/>
          </p:cNvPicPr>
          <p:nvPr/>
        </p:nvPicPr>
        <p:blipFill>
          <a:blip r:embed="rId2"/>
          <a:stretch>
            <a:fillRect/>
          </a:stretch>
        </p:blipFill>
        <p:spPr>
          <a:xfrm>
            <a:off x="6884894" y="0"/>
            <a:ext cx="7745506" cy="82296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45815AB-39DD-2067-3072-67D9322659B0}"/>
              </a:ext>
            </a:extLst>
          </p:cNvPr>
          <p:cNvPicPr>
            <a:picLocks noChangeAspect="1"/>
          </p:cNvPicPr>
          <p:nvPr/>
        </p:nvPicPr>
        <p:blipFill>
          <a:blip r:embed="rId3"/>
          <a:stretch>
            <a:fillRect/>
          </a:stretch>
        </p:blipFill>
        <p:spPr>
          <a:xfrm>
            <a:off x="0" y="0"/>
            <a:ext cx="6884894" cy="8229600"/>
          </a:xfrm>
          <a:prstGeom prst="rect">
            <a:avLst/>
          </a:prstGeom>
        </p:spPr>
      </p:pic>
    </p:spTree>
    <p:extLst>
      <p:ext uri="{BB962C8B-B14F-4D97-AF65-F5344CB8AC3E}">
        <p14:creationId xmlns:p14="http://schemas.microsoft.com/office/powerpoint/2010/main" val="3428341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DE695A0-5C28-C8D2-0E53-499FDC9874B2}"/>
              </a:ext>
            </a:extLst>
          </p:cNvPr>
          <p:cNvPicPr>
            <a:picLocks noChangeAspect="1"/>
          </p:cNvPicPr>
          <p:nvPr/>
        </p:nvPicPr>
        <p:blipFill>
          <a:blip r:embed="rId2"/>
          <a:stretch>
            <a:fillRect/>
          </a:stretch>
        </p:blipFill>
        <p:spPr>
          <a:xfrm>
            <a:off x="7315200" y="0"/>
            <a:ext cx="7315200" cy="8229600"/>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D783A43D-87A2-404B-DAC8-3B89252BEF17}"/>
              </a:ext>
            </a:extLst>
          </p:cNvPr>
          <p:cNvPicPr>
            <a:picLocks noChangeAspect="1"/>
          </p:cNvPicPr>
          <p:nvPr/>
        </p:nvPicPr>
        <p:blipFill>
          <a:blip r:embed="rId3"/>
          <a:stretch>
            <a:fillRect/>
          </a:stretch>
        </p:blipFill>
        <p:spPr>
          <a:xfrm>
            <a:off x="0" y="0"/>
            <a:ext cx="7315200" cy="8229600"/>
          </a:xfrm>
          <a:prstGeom prst="rect">
            <a:avLst/>
          </a:prstGeom>
        </p:spPr>
      </p:pic>
    </p:spTree>
    <p:extLst>
      <p:ext uri="{BB962C8B-B14F-4D97-AF65-F5344CB8AC3E}">
        <p14:creationId xmlns:p14="http://schemas.microsoft.com/office/powerpoint/2010/main" val="3226821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5215DD1-A417-9BA2-EA62-42C20981C774}"/>
              </a:ext>
            </a:extLst>
          </p:cNvPr>
          <p:cNvPicPr>
            <a:picLocks noChangeAspect="1"/>
          </p:cNvPicPr>
          <p:nvPr/>
        </p:nvPicPr>
        <p:blipFill>
          <a:blip r:embed="rId2"/>
          <a:stretch>
            <a:fillRect/>
          </a:stretch>
        </p:blipFill>
        <p:spPr>
          <a:xfrm>
            <a:off x="7315200" y="0"/>
            <a:ext cx="7315200" cy="8229600"/>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37BCE094-8653-0A73-EC07-689B5BB09824}"/>
              </a:ext>
            </a:extLst>
          </p:cNvPr>
          <p:cNvPicPr>
            <a:picLocks noChangeAspect="1"/>
          </p:cNvPicPr>
          <p:nvPr/>
        </p:nvPicPr>
        <p:blipFill>
          <a:blip r:embed="rId3"/>
          <a:stretch>
            <a:fillRect/>
          </a:stretch>
        </p:blipFill>
        <p:spPr>
          <a:xfrm>
            <a:off x="0" y="0"/>
            <a:ext cx="7315200" cy="8229600"/>
          </a:xfrm>
          <a:prstGeom prst="rect">
            <a:avLst/>
          </a:prstGeom>
        </p:spPr>
      </p:pic>
    </p:spTree>
    <p:extLst>
      <p:ext uri="{BB962C8B-B14F-4D97-AF65-F5344CB8AC3E}">
        <p14:creationId xmlns:p14="http://schemas.microsoft.com/office/powerpoint/2010/main" val="4260548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computer screen shot of a diagram&#10;&#10;AI-generated content may be incorrect.">
            <a:extLst>
              <a:ext uri="{FF2B5EF4-FFF2-40B4-BE49-F238E27FC236}">
                <a16:creationId xmlns:a16="http://schemas.microsoft.com/office/drawing/2014/main" id="{D94802CC-914C-9AE1-7C21-DBD5C694DAA9}"/>
              </a:ext>
            </a:extLst>
          </p:cNvPr>
          <p:cNvPicPr>
            <a:picLocks noChangeAspect="1"/>
          </p:cNvPicPr>
          <p:nvPr/>
        </p:nvPicPr>
        <p:blipFill>
          <a:blip r:embed="rId2"/>
          <a:stretch>
            <a:fillRect/>
          </a:stretch>
        </p:blipFill>
        <p:spPr>
          <a:xfrm>
            <a:off x="0" y="228600"/>
            <a:ext cx="14630400" cy="7772400"/>
          </a:xfrm>
          <a:prstGeom prst="rect">
            <a:avLst/>
          </a:prstGeom>
        </p:spPr>
      </p:pic>
    </p:spTree>
    <p:extLst>
      <p:ext uri="{BB962C8B-B14F-4D97-AF65-F5344CB8AC3E}">
        <p14:creationId xmlns:p14="http://schemas.microsoft.com/office/powerpoint/2010/main" val="2236669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751F3EAB-04DE-696F-5B6F-A84E34EE5512}"/>
              </a:ext>
            </a:extLst>
          </p:cNvPr>
          <p:cNvPicPr>
            <a:picLocks noChangeAspect="1"/>
          </p:cNvPicPr>
          <p:nvPr/>
        </p:nvPicPr>
        <p:blipFill>
          <a:blip r:embed="rId2"/>
          <a:stretch>
            <a:fillRect/>
          </a:stretch>
        </p:blipFill>
        <p:spPr>
          <a:xfrm>
            <a:off x="7315200" y="0"/>
            <a:ext cx="7315200" cy="82296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D7A66A50-8AB6-8DE1-5B6B-838ED5A48D26}"/>
              </a:ext>
            </a:extLst>
          </p:cNvPr>
          <p:cNvPicPr>
            <a:picLocks noChangeAspect="1"/>
          </p:cNvPicPr>
          <p:nvPr/>
        </p:nvPicPr>
        <p:blipFill>
          <a:blip r:embed="rId3"/>
          <a:stretch>
            <a:fillRect/>
          </a:stretch>
        </p:blipFill>
        <p:spPr>
          <a:xfrm>
            <a:off x="0" y="0"/>
            <a:ext cx="7315200" cy="8229600"/>
          </a:xfrm>
          <a:prstGeom prst="rect">
            <a:avLst/>
          </a:prstGeom>
        </p:spPr>
      </p:pic>
    </p:spTree>
    <p:extLst>
      <p:ext uri="{BB962C8B-B14F-4D97-AF65-F5344CB8AC3E}">
        <p14:creationId xmlns:p14="http://schemas.microsoft.com/office/powerpoint/2010/main" val="871068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4E3DD552-DA65-E886-260A-FE8A043BAFA2}"/>
              </a:ext>
            </a:extLst>
          </p:cNvPr>
          <p:cNvPicPr>
            <a:picLocks noChangeAspect="1"/>
          </p:cNvPicPr>
          <p:nvPr/>
        </p:nvPicPr>
        <p:blipFill>
          <a:blip r:embed="rId2"/>
          <a:stretch>
            <a:fillRect/>
          </a:stretch>
        </p:blipFill>
        <p:spPr>
          <a:xfrm>
            <a:off x="0" y="0"/>
            <a:ext cx="7315200" cy="8229600"/>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37E1A06-A279-B422-A1F5-9F8A07A78E66}"/>
              </a:ext>
            </a:extLst>
          </p:cNvPr>
          <p:cNvPicPr>
            <a:picLocks noChangeAspect="1"/>
          </p:cNvPicPr>
          <p:nvPr/>
        </p:nvPicPr>
        <p:blipFill>
          <a:blip r:embed="rId3"/>
          <a:stretch>
            <a:fillRect/>
          </a:stretch>
        </p:blipFill>
        <p:spPr>
          <a:xfrm>
            <a:off x="7315200" y="0"/>
            <a:ext cx="7315200" cy="8229600"/>
          </a:xfrm>
          <a:prstGeom prst="rect">
            <a:avLst/>
          </a:prstGeom>
        </p:spPr>
      </p:pic>
    </p:spTree>
    <p:extLst>
      <p:ext uri="{BB962C8B-B14F-4D97-AF65-F5344CB8AC3E}">
        <p14:creationId xmlns:p14="http://schemas.microsoft.com/office/powerpoint/2010/main" val="1323905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EA8FC5F-46DD-383A-97DE-F960102A7CCB}"/>
              </a:ext>
            </a:extLst>
          </p:cNvPr>
          <p:cNvPicPr>
            <a:picLocks noChangeAspect="1"/>
          </p:cNvPicPr>
          <p:nvPr/>
        </p:nvPicPr>
        <p:blipFill>
          <a:blip r:embed="rId2"/>
          <a:stretch>
            <a:fillRect/>
          </a:stretch>
        </p:blipFill>
        <p:spPr>
          <a:xfrm>
            <a:off x="-1" y="0"/>
            <a:ext cx="7315201" cy="82296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C90DDAAF-ADBC-6E37-0858-00C9B01A606C}"/>
              </a:ext>
            </a:extLst>
          </p:cNvPr>
          <p:cNvPicPr>
            <a:picLocks noChangeAspect="1"/>
          </p:cNvPicPr>
          <p:nvPr/>
        </p:nvPicPr>
        <p:blipFill>
          <a:blip r:embed="rId3"/>
          <a:stretch>
            <a:fillRect/>
          </a:stretch>
        </p:blipFill>
        <p:spPr>
          <a:xfrm>
            <a:off x="7315200" y="0"/>
            <a:ext cx="7315200" cy="8229600"/>
          </a:xfrm>
          <a:prstGeom prst="rect">
            <a:avLst/>
          </a:prstGeom>
        </p:spPr>
      </p:pic>
    </p:spTree>
    <p:extLst>
      <p:ext uri="{BB962C8B-B14F-4D97-AF65-F5344CB8AC3E}">
        <p14:creationId xmlns:p14="http://schemas.microsoft.com/office/powerpoint/2010/main" val="412247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11E30AB-F34E-F2C3-AB6C-4267E892DB74}"/>
              </a:ext>
            </a:extLst>
          </p:cNvPr>
          <p:cNvPicPr>
            <a:picLocks noChangeAspect="1"/>
          </p:cNvPicPr>
          <p:nvPr/>
        </p:nvPicPr>
        <p:blipFill>
          <a:blip r:embed="rId2"/>
          <a:stretch>
            <a:fillRect/>
          </a:stretch>
        </p:blipFill>
        <p:spPr>
          <a:xfrm>
            <a:off x="0" y="228600"/>
            <a:ext cx="14630400" cy="7772400"/>
          </a:xfrm>
          <a:prstGeom prst="rect">
            <a:avLst/>
          </a:prstGeom>
        </p:spPr>
      </p:pic>
    </p:spTree>
    <p:extLst>
      <p:ext uri="{BB962C8B-B14F-4D97-AF65-F5344CB8AC3E}">
        <p14:creationId xmlns:p14="http://schemas.microsoft.com/office/powerpoint/2010/main" val="2656401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computer screen shot of a diagram&#10;&#10;AI-generated content may be incorrect.">
            <a:extLst>
              <a:ext uri="{FF2B5EF4-FFF2-40B4-BE49-F238E27FC236}">
                <a16:creationId xmlns:a16="http://schemas.microsoft.com/office/drawing/2014/main" id="{792B6729-03CE-3C94-6E0E-038506DB8586}"/>
              </a:ext>
            </a:extLst>
          </p:cNvPr>
          <p:cNvPicPr>
            <a:picLocks noChangeAspect="1"/>
          </p:cNvPicPr>
          <p:nvPr/>
        </p:nvPicPr>
        <p:blipFill>
          <a:blip r:embed="rId2"/>
          <a:stretch>
            <a:fillRect/>
          </a:stretch>
        </p:blipFill>
        <p:spPr>
          <a:xfrm>
            <a:off x="0" y="228600"/>
            <a:ext cx="14630400" cy="7772400"/>
          </a:xfrm>
          <a:prstGeom prst="rect">
            <a:avLst/>
          </a:prstGeom>
        </p:spPr>
      </p:pic>
    </p:spTree>
    <p:extLst>
      <p:ext uri="{BB962C8B-B14F-4D97-AF65-F5344CB8AC3E}">
        <p14:creationId xmlns:p14="http://schemas.microsoft.com/office/powerpoint/2010/main" val="281584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C7385F1-C061-0259-3742-EE1607200C14}"/>
              </a:ext>
            </a:extLst>
          </p:cNvPr>
          <p:cNvPicPr>
            <a:picLocks noChangeAspect="1"/>
          </p:cNvPicPr>
          <p:nvPr/>
        </p:nvPicPr>
        <p:blipFill>
          <a:blip r:embed="rId2"/>
          <a:stretch>
            <a:fillRect/>
          </a:stretch>
        </p:blipFill>
        <p:spPr>
          <a:xfrm>
            <a:off x="0" y="0"/>
            <a:ext cx="7315200" cy="8229600"/>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93323CDC-2AD9-10E5-FC81-E097844FD811}"/>
              </a:ext>
            </a:extLst>
          </p:cNvPr>
          <p:cNvPicPr>
            <a:picLocks noChangeAspect="1"/>
          </p:cNvPicPr>
          <p:nvPr/>
        </p:nvPicPr>
        <p:blipFill>
          <a:blip r:embed="rId3"/>
          <a:stretch>
            <a:fillRect/>
          </a:stretch>
        </p:blipFill>
        <p:spPr>
          <a:xfrm>
            <a:off x="7315200" y="0"/>
            <a:ext cx="7315200" cy="8229600"/>
          </a:xfrm>
          <a:prstGeom prst="rect">
            <a:avLst/>
          </a:prstGeom>
        </p:spPr>
      </p:pic>
    </p:spTree>
    <p:extLst>
      <p:ext uri="{BB962C8B-B14F-4D97-AF65-F5344CB8AC3E}">
        <p14:creationId xmlns:p14="http://schemas.microsoft.com/office/powerpoint/2010/main" val="4081764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person wearing a white robe with red eyes&#10;&#10;AI-generated content may be incorrect.">
            <a:extLst>
              <a:ext uri="{FF2B5EF4-FFF2-40B4-BE49-F238E27FC236}">
                <a16:creationId xmlns:a16="http://schemas.microsoft.com/office/drawing/2014/main" id="{B428C6D5-F496-A981-34ED-273C84004F39}"/>
              </a:ext>
            </a:extLst>
          </p:cNvPr>
          <p:cNvPicPr>
            <a:picLocks noChangeAspect="1"/>
          </p:cNvPicPr>
          <p:nvPr/>
        </p:nvPicPr>
        <p:blipFill>
          <a:blip r:embed="rId2">
            <a:alphaModFix amt="10000"/>
          </a:blip>
          <a:stretch>
            <a:fillRect/>
          </a:stretch>
        </p:blipFill>
        <p:spPr>
          <a:xfrm>
            <a:off x="0" y="0"/>
            <a:ext cx="14630400" cy="8229600"/>
          </a:xfrm>
          <a:prstGeom prst="rect">
            <a:avLst/>
          </a:prstGeom>
        </p:spPr>
      </p:pic>
      <p:sp>
        <p:nvSpPr>
          <p:cNvPr id="4" name="TextBox 3">
            <a:extLst>
              <a:ext uri="{FF2B5EF4-FFF2-40B4-BE49-F238E27FC236}">
                <a16:creationId xmlns:a16="http://schemas.microsoft.com/office/drawing/2014/main" id="{D69B6909-C758-8394-C6F8-074902A90D07}"/>
              </a:ext>
            </a:extLst>
          </p:cNvPr>
          <p:cNvSpPr txBox="1"/>
          <p:nvPr/>
        </p:nvSpPr>
        <p:spPr>
          <a:xfrm>
            <a:off x="3770606" y="4639517"/>
            <a:ext cx="7089185" cy="2015936"/>
          </a:xfrm>
          <a:prstGeom prst="rect">
            <a:avLst/>
          </a:prstGeom>
          <a:noFill/>
        </p:spPr>
        <p:txBody>
          <a:bodyPr wrap="none" rtlCol="0">
            <a:spAutoFit/>
          </a:bodyPr>
          <a:lstStyle/>
          <a:p>
            <a:r>
              <a:rPr lang="en-US" sz="12500" b="1" u="sng" dirty="0">
                <a:solidFill>
                  <a:srgbClr val="002060"/>
                </a:solidFill>
              </a:rPr>
              <a:t>Thank you</a:t>
            </a:r>
          </a:p>
        </p:txBody>
      </p:sp>
      <p:sp>
        <p:nvSpPr>
          <p:cNvPr id="2" name="TextBox 1">
            <a:extLst>
              <a:ext uri="{FF2B5EF4-FFF2-40B4-BE49-F238E27FC236}">
                <a16:creationId xmlns:a16="http://schemas.microsoft.com/office/drawing/2014/main" id="{D80F8AA4-AD58-B971-B82C-D2518B9B9C10}"/>
              </a:ext>
            </a:extLst>
          </p:cNvPr>
          <p:cNvSpPr txBox="1"/>
          <p:nvPr/>
        </p:nvSpPr>
        <p:spPr>
          <a:xfrm>
            <a:off x="695695" y="1574148"/>
            <a:ext cx="13239009" cy="2015936"/>
          </a:xfrm>
          <a:prstGeom prst="rect">
            <a:avLst/>
          </a:prstGeom>
          <a:noFill/>
        </p:spPr>
        <p:txBody>
          <a:bodyPr wrap="none" rtlCol="0">
            <a:spAutoFit/>
          </a:bodyPr>
          <a:lstStyle/>
          <a:p>
            <a:pPr algn="ctr"/>
            <a:r>
              <a:rPr lang="en-US" sz="7500" b="1" u="sng" dirty="0">
                <a:solidFill>
                  <a:srgbClr val="002060"/>
                </a:solidFill>
              </a:rPr>
              <a:t>Always remember:</a:t>
            </a:r>
          </a:p>
          <a:p>
            <a:pPr algn="ctr"/>
            <a:r>
              <a:rPr lang="en-US" sz="5000" dirty="0">
                <a:solidFill>
                  <a:srgbClr val="002060"/>
                </a:solidFill>
              </a:rPr>
              <a:t>“Risks come from not knowing what you’re doing”</a:t>
            </a:r>
          </a:p>
        </p:txBody>
      </p:sp>
    </p:spTree>
    <p:extLst>
      <p:ext uri="{BB962C8B-B14F-4D97-AF65-F5344CB8AC3E}">
        <p14:creationId xmlns:p14="http://schemas.microsoft.com/office/powerpoint/2010/main" val="263493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TotalTime>
  <Words>1063</Words>
  <Application>Microsoft Office PowerPoint</Application>
  <PresentationFormat>Custom</PresentationFormat>
  <Paragraphs>101</Paragraphs>
  <Slides>25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DM Sans Medium</vt:lpstr>
      <vt:lpstr>DM Sans Light</vt:lpstr>
      <vt:lpstr>Arial</vt:lpstr>
      <vt:lpstr>Consolas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Ammar Yaser Al-Sayyed Abdullah</dc:creator>
  <cp:lastModifiedBy>Ammar Yaser Al-Sayyed Abdullah</cp:lastModifiedBy>
  <cp:revision>14</cp:revision>
  <dcterms:created xsi:type="dcterms:W3CDTF">2025-08-22T19:04:45Z</dcterms:created>
  <dcterms:modified xsi:type="dcterms:W3CDTF">2025-08-28T08:50:20Z</dcterms:modified>
</cp:coreProperties>
</file>